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39.xml" ContentType="application/vnd.openxmlformats-officedocument.presentationml.slide+xml"/>
  <Override PartName="/ppt/slides/slide27.xml" ContentType="application/vnd.openxmlformats-officedocument.presentationml.slide+xml"/>
  <Override PartName="/ppt/slides/slide43.xml" ContentType="application/vnd.openxmlformats-officedocument.presentationml.slide+xml"/>
  <Override PartName="/ppt/slides/slide20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6C01030-153F-4F60-95F2-967877ABB2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116A92A-8F42-4A57-992F-A2D87D095D0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E19B22F-37E3-413B-A97F-AE97E53CE1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A5983E0-8832-4B91-AAA3-AA6E5171C81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7E3B107-C589-4BA5-9A00-9D5956B9165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1FD66A5-56AE-4C75-9152-9923F107CD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A06B509-5875-4128-AF8A-D153EF25B70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C2D7578-BB65-4052-AE3A-25BA8B863A9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760F7AF-4EE5-4C1E-B732-9E0E3F7C0CD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A0B3AD6-C4EF-4333-9714-88E3927B03E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44A3DA7-3E75-4B7D-ADF3-4255CC1497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ounded Rectangle 2"/>
          <p:cNvSpPr/>
          <p:nvPr/>
        </p:nvSpPr>
        <p:spPr>
          <a:xfrm>
            <a:off x="658440" y="658440"/>
            <a:ext cx="1005480" cy="1005480"/>
          </a:xfrm>
          <a:prstGeom prst="roundRect">
            <a:avLst>
              <a:gd name="adj" fmla="val 16667"/>
            </a:avLst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658440" y="722520"/>
            <a:ext cx="10054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CG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874520" y="758880"/>
            <a:ext cx="6217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CHILDGUARD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1874520" y="1134000"/>
            <a:ext cx="6400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AN OPEN GUARD KIDS 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731520" y="1874520"/>
            <a:ext cx="731484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1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Hành trình xây dựng hệ thống</a:t>
            </a:r>
            <a:br>
              <a:rPr sz="3100"/>
            </a:br>
            <a:r>
              <a:rPr lang="en-US" sz="31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qua 3 tuần phát triển</a:t>
            </a:r>
            <a:endParaRPr lang="en-US" sz="3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758880" y="3456360"/>
            <a:ext cx="79549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Agent Windows · FastAPI Server · Dashboard phụ huynh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Rounded Rectangle 8"/>
          <p:cNvSpPr/>
          <p:nvPr/>
        </p:nvSpPr>
        <p:spPr>
          <a:xfrm>
            <a:off x="8732520" y="1600200"/>
            <a:ext cx="2422800" cy="33372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8915400" y="1965960"/>
            <a:ext cx="20113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54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03</a:t>
            </a:r>
            <a:endParaRPr lang="en-US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8869680" y="2971800"/>
            <a:ext cx="21027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TUẦN PHÁT TRIỂN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9006840" y="3493080"/>
            <a:ext cx="18284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Kiến trúc</a:t>
            </a:r>
            <a:br>
              <a:rPr sz="1500"/>
            </a:br>
            <a:r>
              <a:rPr lang="en-US" sz="15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Thời gian</a:t>
            </a:r>
            <a:br>
              <a:rPr sz="1500"/>
            </a:br>
            <a:r>
              <a:rPr lang="en-US" sz="15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Nội dung &amp; báo cáo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2"/>
          <p:cNvSpPr/>
          <p:nvPr/>
        </p:nvSpPr>
        <p:spPr>
          <a:xfrm>
            <a:off x="758880" y="4892040"/>
            <a:ext cx="56689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Nguyễn Văn Phước — 23120074</a:t>
            </a:r>
            <a:br>
              <a:rPr sz="1600"/>
            </a:b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Hà Công Thuận — 23120094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3"/>
          <p:cNvSpPr/>
          <p:nvPr/>
        </p:nvSpPr>
        <p:spPr>
          <a:xfrm>
            <a:off x="758880" y="5715000"/>
            <a:ext cx="731484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GVHD: Đỗ Hoàng Cường</a:t>
            </a:r>
            <a:br>
              <a:rPr sz="1200"/>
            </a:b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Trường Đại học Khoa học Tự nhiên, ĐHQG-HCM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4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5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Mở đầu   ·   01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Bài toán cần giải quyết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MỞ ĐẦU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4"/>
          <p:cNvSpPr/>
          <p:nvPr/>
        </p:nvSpPr>
        <p:spPr>
          <a:xfrm>
            <a:off x="594360" y="1051560"/>
            <a:ext cx="10972440" cy="51660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5"/>
          <p:cNvSpPr/>
          <p:nvPr/>
        </p:nvSpPr>
        <p:spPr>
          <a:xfrm>
            <a:off x="914400" y="1353240"/>
            <a:ext cx="10332360" cy="44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Quản lý thời gian sử dụng máy tính mà không cần phụ huynh luôn ở cạnh.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Hạn chế ứng dụng và website không phù hợp theo chính sách gia đình.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Duy trì chức năng cốt lõi khi mạng hoặc máy chủ bị gián đoạn.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Giải thích rõ cho trẻ vì sao một hành động bị chặn.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Chỉ thu thập metadata cần thiết; không đọc nội dung riêng tư.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Rounded Rectangle 6"/>
          <p:cNvSpPr/>
          <p:nvPr/>
        </p:nvSpPr>
        <p:spPr>
          <a:xfrm>
            <a:off x="914400" y="5440680"/>
            <a:ext cx="10332360" cy="5025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7"/>
          <p:cNvSpPr/>
          <p:nvPr/>
        </p:nvSpPr>
        <p:spPr>
          <a:xfrm>
            <a:off x="1097280" y="5559480"/>
            <a:ext cx="9966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Công cụ đồng hành — không phải phần mềm theo dõi lén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8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9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Mở đầu   ·   02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Lộ trình phát triển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MỞ ĐẦU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8" name="Table 4"/>
          <p:cNvGraphicFramePr/>
          <p:nvPr/>
        </p:nvGraphicFramePr>
        <p:xfrm>
          <a:off x="594360" y="1097280"/>
          <a:ext cx="10972440" cy="507456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1014840"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Tuần 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Tuần 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Tuần 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</a:tr>
              <a:tr h="10148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Kiến trúc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Quota và lịch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DNS và SafeSearch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  <a:tr h="10148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Mô hình dữ liệu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Monotonic clock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Chặn ứng dụng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</a:tr>
              <a:tr h="10148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Enrollment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Đồng bộ policy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Event và báo cáo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  <a:tr h="10148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Heartbeat &amp; Dashboard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Khóa máy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Giao diện cho trẻ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</a:tr>
            </a:tbl>
          </a:graphicData>
        </a:graphic>
      </p:graphicFrame>
      <p:sp>
        <p:nvSpPr>
          <p:cNvPr id="89" name="TextBox 5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Mở đầu   ·   03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Rectangle 2"/>
          <p:cNvSpPr/>
          <p:nvPr/>
        </p:nvSpPr>
        <p:spPr>
          <a:xfrm>
            <a:off x="137160" y="137160"/>
            <a:ext cx="11917080" cy="6583320"/>
          </a:xfrm>
          <a:prstGeom prst="rect">
            <a:avLst/>
          </a:prstGeom>
          <a:solidFill>
            <a:srgbClr val="0A1222"/>
          </a:solidFill>
          <a:ln>
            <a:solidFill>
              <a:srgbClr val="0A12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3"/>
          <p:cNvSpPr/>
          <p:nvPr/>
        </p:nvSpPr>
        <p:spPr>
          <a:xfrm>
            <a:off x="822960" y="105156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4"/>
          <p:cNvSpPr/>
          <p:nvPr/>
        </p:nvSpPr>
        <p:spPr>
          <a:xfrm>
            <a:off x="822960" y="1828800"/>
            <a:ext cx="987516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Xây dựng nền tảng hệ thống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5"/>
          <p:cNvSpPr/>
          <p:nvPr/>
        </p:nvSpPr>
        <p:spPr>
          <a:xfrm>
            <a:off x="841320" y="3364920"/>
            <a:ext cx="96008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Kiến trúc · Dữ liệu · Enrollment · Heartbeat · Dashboard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6"/>
          <p:cNvSpPr/>
          <p:nvPr/>
        </p:nvSpPr>
        <p:spPr>
          <a:xfrm>
            <a:off x="9326880" y="4480560"/>
            <a:ext cx="18284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58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04</a:t>
            </a:r>
            <a:endParaRPr lang="en-US" sz="5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04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Kiến trúc tổng thể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Rounded Rectangle 4"/>
          <p:cNvSpPr/>
          <p:nvPr/>
        </p:nvSpPr>
        <p:spPr>
          <a:xfrm>
            <a:off x="594360" y="1005840"/>
            <a:ext cx="10972440" cy="525744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3" name="Picture 5" descr="architecture.png"/>
          <p:cNvPicPr/>
          <p:nvPr/>
        </p:nvPicPr>
        <p:blipFill>
          <a:blip r:embed="rId1"/>
          <a:stretch/>
        </p:blipFill>
        <p:spPr>
          <a:xfrm>
            <a:off x="850320" y="2028600"/>
            <a:ext cx="10460520" cy="280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Box 6"/>
          <p:cNvSpPr/>
          <p:nvPr/>
        </p:nvSpPr>
        <p:spPr>
          <a:xfrm>
            <a:off x="822960" y="571500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Agent Windows ↔ FastAPI Server ↔ Dashboard phụ huynh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05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Vai trò của từng thành phần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0" name="Table 4"/>
          <p:cNvGraphicFramePr/>
          <p:nvPr/>
        </p:nvGraphicFramePr>
        <p:xfrm>
          <a:off x="594360" y="1097280"/>
          <a:ext cx="10972440" cy="5074560"/>
        </p:xfrm>
        <a:graphic>
          <a:graphicData uri="http://schemas.openxmlformats.org/drawingml/2006/table">
            <a:tbl>
              <a:tblPr/>
              <a:tblGrid>
                <a:gridCol w="2926080"/>
                <a:gridCol w="8046720"/>
              </a:tblGrid>
              <a:tr h="724680"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Thành phần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Trách nhiệm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B82F6"/>
                    </a:solidFill>
                  </a:tcPr>
                </a:tc>
              </a:tr>
              <a:tr h="72468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Agent Core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Quota, lịch, chặn ứng dụng và website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  <a:tr h="72468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Tray UI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Trạng thái, cảnh báo, yêu cầu thêm giờ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</a:tr>
              <a:tr h="72468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Sync Worker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Heartbeat, policy, event và command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  <a:tr h="72468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FastAPI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Xác thực, thiết bị, policy, audit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</a:tr>
              <a:tr h="72468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Dashboard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Giao diện quản lý của phụ huynh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  <a:tr h="72468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SQLite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Cache cục bộ và dữ liệu server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</a:tr>
            </a:tbl>
          </a:graphicData>
        </a:graphic>
      </p:graphicFrame>
      <p:sp>
        <p:nvSpPr>
          <p:cNvPr id="111" name="TextBox 5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6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06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Cấu trúc mã nguồn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Rounded Rectangle 4"/>
          <p:cNvSpPr/>
          <p:nvPr/>
        </p:nvSpPr>
        <p:spPr>
          <a:xfrm>
            <a:off x="594360" y="1024200"/>
            <a:ext cx="5714640" cy="5211720"/>
          </a:xfrm>
          <a:prstGeom prst="roundRect">
            <a:avLst>
              <a:gd name="adj" fmla="val 16667"/>
            </a:avLst>
          </a:prstGeom>
          <a:solidFill>
            <a:srgbClr val="050B16"/>
          </a:solidFill>
          <a:ln>
            <a:solidFill>
              <a:srgbClr val="050B1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Box 5"/>
          <p:cNvSpPr/>
          <p:nvPr/>
        </p:nvSpPr>
        <p:spPr>
          <a:xfrm>
            <a:off x="868680" y="1325880"/>
            <a:ext cx="5166000" cy="46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app/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├── agent/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│   ├── enforcer.py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│   ├── storage.py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│   ├── sync.py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│   ├── dns_proxy.py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│   └── tray/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├── server/app/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│   ├── routers/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│   ├── models.py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│   └── schemas.py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├── dashboard/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└── tests/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Rounded Rectangle 6"/>
          <p:cNvSpPr/>
          <p:nvPr/>
        </p:nvSpPr>
        <p:spPr>
          <a:xfrm>
            <a:off x="6537960" y="1024200"/>
            <a:ext cx="5028840" cy="521172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TextBox 7"/>
          <p:cNvSpPr/>
          <p:nvPr/>
        </p:nvSpPr>
        <p:spPr>
          <a:xfrm>
            <a:off x="6858000" y="1371600"/>
            <a:ext cx="4434480" cy="452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Agent chịu trách nhiệm thực thi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Server quản lý và đồng bộ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Dashboard không điều khiển trực tiếp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Giao tiếp qua API rõ ràng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8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9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07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Mô hình dữ liệu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Rounded Rectangle 4"/>
          <p:cNvSpPr/>
          <p:nvPr/>
        </p:nvSpPr>
        <p:spPr>
          <a:xfrm>
            <a:off x="594360" y="1005840"/>
            <a:ext cx="10972440" cy="525744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6" name="Picture 5" descr="data_model.png"/>
          <p:cNvPicPr/>
          <p:nvPr/>
        </p:nvPicPr>
        <p:blipFill>
          <a:blip r:embed="rId1"/>
          <a:stretch/>
        </p:blipFill>
        <p:spPr>
          <a:xfrm>
            <a:off x="5937120" y="1335240"/>
            <a:ext cx="5058000" cy="4608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TextBox 6"/>
          <p:cNvSpPr/>
          <p:nvPr/>
        </p:nvSpPr>
        <p:spPr>
          <a:xfrm>
            <a:off x="822960" y="1600200"/>
            <a:ext cx="489204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10 thực thể chính; Policy được lưu theo phiên bản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08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Vì sao chọn SQLite và SQLAlchemy?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Rounded Rectangle 4"/>
          <p:cNvSpPr/>
          <p:nvPr/>
        </p:nvSpPr>
        <p:spPr>
          <a:xfrm>
            <a:off x="594360" y="1051560"/>
            <a:ext cx="10972440" cy="51660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TextBox 5"/>
          <p:cNvSpPr/>
          <p:nvPr/>
        </p:nvSpPr>
        <p:spPr>
          <a:xfrm>
            <a:off x="914400" y="1353240"/>
            <a:ext cx="10332360" cy="44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Cài nhanh, không cần database server riêng.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SQLite WAL phù hợp quy mô phòng lab.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SQLAlchemy tách mô hình dữ liệu khỏi SQL cụ thể.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Dễ tạo database tạm cho kiểm thử tự động.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Giới hạn: khi mở rộng nên chuyển PostgreSQL và migration chuẩn.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6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7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09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Luồng ghép đôi thiết bị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Rounded Rectangle 4"/>
          <p:cNvSpPr/>
          <p:nvPr/>
        </p:nvSpPr>
        <p:spPr>
          <a:xfrm>
            <a:off x="594360" y="1005840"/>
            <a:ext cx="10972440" cy="525744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1" name="Picture 5" descr="enrollment.png"/>
          <p:cNvPicPr/>
          <p:nvPr/>
        </p:nvPicPr>
        <p:blipFill>
          <a:blip r:embed="rId1"/>
          <a:stretch/>
        </p:blipFill>
        <p:spPr>
          <a:xfrm>
            <a:off x="4537440" y="1243440"/>
            <a:ext cx="3085920" cy="437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TextBox 6"/>
          <p:cNvSpPr/>
          <p:nvPr/>
        </p:nvSpPr>
        <p:spPr>
          <a:xfrm>
            <a:off x="822960" y="571500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Mã 8 ký tự · hạn 10 phút · token được phát sau khi xác minh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10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6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Giao diện tạo mã ghép đôi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Rounded Rectangle 4"/>
          <p:cNvSpPr/>
          <p:nvPr/>
        </p:nvSpPr>
        <p:spPr>
          <a:xfrm>
            <a:off x="594360" y="1005840"/>
            <a:ext cx="10972440" cy="525744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9" name="Picture 5" descr="enroll.png"/>
          <p:cNvPicPr/>
          <p:nvPr/>
        </p:nvPicPr>
        <p:blipFill>
          <a:blip r:embed="rId1"/>
          <a:stretch/>
        </p:blipFill>
        <p:spPr>
          <a:xfrm>
            <a:off x="1874520" y="1243440"/>
            <a:ext cx="8411760" cy="437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TextBox 6"/>
          <p:cNvSpPr/>
          <p:nvPr/>
        </p:nvSpPr>
        <p:spPr>
          <a:xfrm>
            <a:off x="822960" y="571500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Ảnh preview phiên bản cũ — cần chụp lại trước khi bảo vệ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11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Access token và refresh token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Rounded Rectangle 4"/>
          <p:cNvSpPr/>
          <p:nvPr/>
        </p:nvSpPr>
        <p:spPr>
          <a:xfrm>
            <a:off x="594360" y="1828800"/>
            <a:ext cx="263304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" name="TextBox 5"/>
          <p:cNvSpPr/>
          <p:nvPr/>
        </p:nvSpPr>
        <p:spPr>
          <a:xfrm>
            <a:off x="758880" y="2011680"/>
            <a:ext cx="2304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01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6"/>
          <p:cNvSpPr/>
          <p:nvPr/>
        </p:nvSpPr>
        <p:spPr>
          <a:xfrm>
            <a:off x="758880" y="2578680"/>
            <a:ext cx="2304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Enrollment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7"/>
          <p:cNvSpPr/>
          <p:nvPr/>
        </p:nvSpPr>
        <p:spPr>
          <a:xfrm>
            <a:off x="758880" y="3154680"/>
            <a:ext cx="2304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Mã ghép đôi hợp lệ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8"/>
          <p:cNvSpPr/>
          <p:nvPr/>
        </p:nvSpPr>
        <p:spPr>
          <a:xfrm>
            <a:off x="320040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Rounded Rectangle 9"/>
          <p:cNvSpPr/>
          <p:nvPr/>
        </p:nvSpPr>
        <p:spPr>
          <a:xfrm>
            <a:off x="3374280" y="1828800"/>
            <a:ext cx="263304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10"/>
          <p:cNvSpPr/>
          <p:nvPr/>
        </p:nvSpPr>
        <p:spPr>
          <a:xfrm>
            <a:off x="3538800" y="2011680"/>
            <a:ext cx="2304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02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11"/>
          <p:cNvSpPr/>
          <p:nvPr/>
        </p:nvSpPr>
        <p:spPr>
          <a:xfrm>
            <a:off x="3538800" y="2578680"/>
            <a:ext cx="2304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Access token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12"/>
          <p:cNvSpPr/>
          <p:nvPr/>
        </p:nvSpPr>
        <p:spPr>
          <a:xfrm>
            <a:off x="3538800" y="3154680"/>
            <a:ext cx="2304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Hiện tại: 10 phút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13"/>
          <p:cNvSpPr/>
          <p:nvPr/>
        </p:nvSpPr>
        <p:spPr>
          <a:xfrm>
            <a:off x="598032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Rounded Rectangle 14"/>
          <p:cNvSpPr/>
          <p:nvPr/>
        </p:nvSpPr>
        <p:spPr>
          <a:xfrm>
            <a:off x="6153840" y="1828800"/>
            <a:ext cx="263304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7" name="TextBox 15"/>
          <p:cNvSpPr/>
          <p:nvPr/>
        </p:nvSpPr>
        <p:spPr>
          <a:xfrm>
            <a:off x="6318360" y="2011680"/>
            <a:ext cx="2304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03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16"/>
          <p:cNvSpPr/>
          <p:nvPr/>
        </p:nvSpPr>
        <p:spPr>
          <a:xfrm>
            <a:off x="6318360" y="2578680"/>
            <a:ext cx="2304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Refresh token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17"/>
          <p:cNvSpPr/>
          <p:nvPr/>
        </p:nvSpPr>
        <p:spPr>
          <a:xfrm>
            <a:off x="6318360" y="3154680"/>
            <a:ext cx="2304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Hiệu lực 30 ngày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18"/>
          <p:cNvSpPr/>
          <p:nvPr/>
        </p:nvSpPr>
        <p:spPr>
          <a:xfrm>
            <a:off x="87598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Rounded Rectangle 19"/>
          <p:cNvSpPr/>
          <p:nvPr/>
        </p:nvSpPr>
        <p:spPr>
          <a:xfrm>
            <a:off x="8933760" y="1828800"/>
            <a:ext cx="263304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20"/>
          <p:cNvSpPr/>
          <p:nvPr/>
        </p:nvSpPr>
        <p:spPr>
          <a:xfrm>
            <a:off x="9098280" y="2011680"/>
            <a:ext cx="23040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04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21"/>
          <p:cNvSpPr/>
          <p:nvPr/>
        </p:nvSpPr>
        <p:spPr>
          <a:xfrm>
            <a:off x="9098280" y="2578680"/>
            <a:ext cx="23040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Token hash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22"/>
          <p:cNvSpPr/>
          <p:nvPr/>
        </p:nvSpPr>
        <p:spPr>
          <a:xfrm>
            <a:off x="9098280" y="3154680"/>
            <a:ext cx="23040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Server chỉ lưu SHA-256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23"/>
          <p:cNvSpPr/>
          <p:nvPr/>
        </p:nvSpPr>
        <p:spPr>
          <a:xfrm>
            <a:off x="777240" y="489204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Token được gắn với device_id và bị thu hồi khi thiết bị không còn hoạt động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24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25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12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Cơ chế heartbeat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Rounded Rectangle 4"/>
          <p:cNvSpPr/>
          <p:nvPr/>
        </p:nvSpPr>
        <p:spPr>
          <a:xfrm>
            <a:off x="594360" y="1024200"/>
            <a:ext cx="5714640" cy="5211720"/>
          </a:xfrm>
          <a:prstGeom prst="roundRect">
            <a:avLst>
              <a:gd name="adj" fmla="val 16667"/>
            </a:avLst>
          </a:prstGeom>
          <a:solidFill>
            <a:srgbClr val="050B16"/>
          </a:solidFill>
          <a:ln>
            <a:solidFill>
              <a:srgbClr val="050B1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TextBox 5"/>
          <p:cNvSpPr/>
          <p:nvPr/>
        </p:nvSpPr>
        <p:spPr>
          <a:xfrm>
            <a:off x="868680" y="1325880"/>
            <a:ext cx="5166000" cy="46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POST /heartbeat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{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"policy_version": 3,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"quota_used_seconds": 5400,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"queued_event_count": 2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}</a:t>
            </a:r>
            <a:br>
              <a:rPr sz="1500"/>
            </a:b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Response: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{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"policy_changed": true,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"pending_commands": [],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"server_time": "...Z"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}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Rounded Rectangle 6"/>
          <p:cNvSpPr/>
          <p:nvPr/>
        </p:nvSpPr>
        <p:spPr>
          <a:xfrm>
            <a:off x="6537960" y="1024200"/>
            <a:ext cx="5028840" cy="521172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TextBox 7"/>
          <p:cNvSpPr/>
          <p:nvPr/>
        </p:nvSpPr>
        <p:spPr>
          <a:xfrm>
            <a:off x="6858000" y="1371600"/>
            <a:ext cx="4434480" cy="452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Cập nhật last_seen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So sánh policy version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Đồng bộ thời gian UTC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Nhận command dự phòng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Theo dõi event queue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8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9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13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Trạng thái thiết bị trên Dashboard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3B82F6"/>
                </a:solidFill>
                <a:effectLst/>
                <a:uFillTx/>
                <a:latin typeface="Aptos"/>
              </a:rPr>
              <a:t>TUẦN 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Rounded Rectangle 4"/>
          <p:cNvSpPr/>
          <p:nvPr/>
        </p:nvSpPr>
        <p:spPr>
          <a:xfrm>
            <a:off x="594360" y="1005840"/>
            <a:ext cx="10972440" cy="525744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91" name="Picture 5" descr="overview-dashboard.png"/>
          <p:cNvPicPr/>
          <p:nvPr/>
        </p:nvPicPr>
        <p:blipFill>
          <a:blip r:embed="rId1"/>
          <a:stretch/>
        </p:blipFill>
        <p:spPr>
          <a:xfrm>
            <a:off x="1874520" y="1243440"/>
            <a:ext cx="8411760" cy="437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TextBox 6"/>
          <p:cNvSpPr/>
          <p:nvPr/>
        </p:nvSpPr>
        <p:spPr>
          <a:xfrm>
            <a:off x="822960" y="571500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Thiết bị online/offline · quota · policy version · điều khiển khẩn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1   ·   14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Rectangle 2"/>
          <p:cNvSpPr/>
          <p:nvPr/>
        </p:nvSpPr>
        <p:spPr>
          <a:xfrm>
            <a:off x="137160" y="137160"/>
            <a:ext cx="11917080" cy="6583320"/>
          </a:xfrm>
          <a:prstGeom prst="rect">
            <a:avLst/>
          </a:prstGeom>
          <a:solidFill>
            <a:srgbClr val="0A1222"/>
          </a:solidFill>
          <a:ln>
            <a:solidFill>
              <a:srgbClr val="0A12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" name="TextBox 3"/>
          <p:cNvSpPr/>
          <p:nvPr/>
        </p:nvSpPr>
        <p:spPr>
          <a:xfrm>
            <a:off x="822960" y="105156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4"/>
          <p:cNvSpPr/>
          <p:nvPr/>
        </p:nvSpPr>
        <p:spPr>
          <a:xfrm>
            <a:off x="822960" y="1828800"/>
            <a:ext cx="987516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Quản lý thời gian và chính sách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841320" y="3364920"/>
            <a:ext cx="96008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Quota · Lịch 7×48 · Cảnh báo · Khóa máy · Policy sync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6"/>
          <p:cNvSpPr/>
          <p:nvPr/>
        </p:nvSpPr>
        <p:spPr>
          <a:xfrm>
            <a:off x="9326880" y="4480560"/>
            <a:ext cx="18284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58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15</a:t>
            </a:r>
            <a:endParaRPr lang="en-US" sz="5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15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Cấu trúc một policy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Rounded Rectangle 4"/>
          <p:cNvSpPr/>
          <p:nvPr/>
        </p:nvSpPr>
        <p:spPr>
          <a:xfrm>
            <a:off x="594360" y="1024200"/>
            <a:ext cx="5714640" cy="5211720"/>
          </a:xfrm>
          <a:prstGeom prst="roundRect">
            <a:avLst>
              <a:gd name="adj" fmla="val 16667"/>
            </a:avLst>
          </a:prstGeom>
          <a:solidFill>
            <a:srgbClr val="050B16"/>
          </a:solidFill>
          <a:ln>
            <a:solidFill>
              <a:srgbClr val="050B1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TextBox 5"/>
          <p:cNvSpPr/>
          <p:nvPr/>
        </p:nvSpPr>
        <p:spPr>
          <a:xfrm>
            <a:off x="868680" y="1325880"/>
            <a:ext cx="5166000" cy="46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{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"version": 15,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"quota": {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  "daily_minutes": 90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},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"schedule": {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  "matrix": "7 x 48"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},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"app_rules": {...},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"domain_rules": {...}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}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Rounded Rectangle 6"/>
          <p:cNvSpPr/>
          <p:nvPr/>
        </p:nvSpPr>
        <p:spPr>
          <a:xfrm>
            <a:off x="6537960" y="1024200"/>
            <a:ext cx="5028840" cy="521172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TextBox 7"/>
          <p:cNvSpPr/>
          <p:nvPr/>
        </p:nvSpPr>
        <p:spPr>
          <a:xfrm>
            <a:off x="6858000" y="1371600"/>
            <a:ext cx="4434480" cy="452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Version tăng dần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Agent cache trong SQLite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Áp dụng được khi offline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Chưa có HMAC/chữ ký toàn vẹn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8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9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Thuật toán quota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Rounded Rectangle 4"/>
          <p:cNvSpPr/>
          <p:nvPr/>
        </p:nvSpPr>
        <p:spPr>
          <a:xfrm>
            <a:off x="594360" y="1024200"/>
            <a:ext cx="5714640" cy="5211720"/>
          </a:xfrm>
          <a:prstGeom prst="roundRect">
            <a:avLst>
              <a:gd name="adj" fmla="val 16667"/>
            </a:avLst>
          </a:prstGeom>
          <a:solidFill>
            <a:srgbClr val="050B16"/>
          </a:solidFill>
          <a:ln>
            <a:solidFill>
              <a:srgbClr val="050B1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Box 5"/>
          <p:cNvSpPr/>
          <p:nvPr/>
        </p:nvSpPr>
        <p:spPr>
          <a:xfrm>
            <a:off x="868680" y="1325880"/>
            <a:ext cx="5166000" cy="46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Mỗi tick: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now = monotonic()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delta = now - previous</a:t>
            </a:r>
            <a:br>
              <a:rPr sz="1500"/>
            </a:b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nếu không khóa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và idle ≤ 5 phút: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    quota += delta</a:t>
            </a:r>
            <a:br>
              <a:rPr sz="1500"/>
            </a:b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nếu quota hết: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    cảnh báo / ân hạn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    khóa sau 60 giây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Rounded Rectangle 6"/>
          <p:cNvSpPr/>
          <p:nvPr/>
        </p:nvSpPr>
        <p:spPr>
          <a:xfrm>
            <a:off x="6537960" y="1024200"/>
            <a:ext cx="5028840" cy="521172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TextBox 7"/>
          <p:cNvSpPr/>
          <p:nvPr/>
        </p:nvSpPr>
        <p:spPr>
          <a:xfrm>
            <a:off x="6858000" y="1371600"/>
            <a:ext cx="4434480" cy="452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Chỉ tính thời gian sử dụng thực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Lưu số giây trong SQLite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Không reset khi Agent restart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Cần bổ sung quota riêng ngày thường/cuối tuần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8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9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17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Vì sao dùng monotonic clock?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4" name="Table 4"/>
          <p:cNvGraphicFramePr/>
          <p:nvPr/>
        </p:nvGraphicFramePr>
        <p:xfrm>
          <a:off x="594360" y="1097280"/>
          <a:ext cx="10972440" cy="5074560"/>
        </p:xfrm>
        <a:graphic>
          <a:graphicData uri="http://schemas.openxmlformats.org/drawingml/2006/table">
            <a:tbl>
              <a:tblPr/>
              <a:tblGrid>
                <a:gridCol w="2286000"/>
                <a:gridCol w="4114800"/>
                <a:gridCol w="4572000"/>
              </a:tblGrid>
              <a:tr h="1268640"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Nguồn thời gian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Vai trò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5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Rủi ro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0B981"/>
                    </a:solidFill>
                  </a:tcPr>
                </a:tc>
              </a:tr>
              <a:tr h="12686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time.time()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Thời gian hệ thống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Có thể bị chỉnh lùi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  <a:tr h="12686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time.monotonic()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Đo khoảng thời gian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Chỉ tăng trong một phiên chạy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</a:tr>
              <a:tr h="12686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Server timestamp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Xác định UTC/ngày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5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Phụ thuộc lần đồng bộ gần nhất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</a:tbl>
          </a:graphicData>
        </a:graphic>
      </p:graphicFrame>
      <p:sp>
        <p:nvSpPr>
          <p:cNvPr id="225" name="TextBox 5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6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18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Phát hiện idle và màn hình khóa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ounded Rectangle 4"/>
          <p:cNvSpPr/>
          <p:nvPr/>
        </p:nvSpPr>
        <p:spPr>
          <a:xfrm>
            <a:off x="594360" y="1051560"/>
            <a:ext cx="10972440" cy="51660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TextBox 5"/>
          <p:cNvSpPr/>
          <p:nvPr/>
        </p:nvSpPr>
        <p:spPr>
          <a:xfrm>
            <a:off x="914400" y="1353240"/>
            <a:ext cx="10332360" cy="44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GetLastInputInfo tính thời gian không có thao tác bàn phím/chuột.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Không cộng quota khi idle quá 300 giây.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Phát hiện lock screen bằng trạng thái desktop Windows.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Tray UI vẫn hiển thị trạng thái trong phiên người dùng.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Các API Windows cần được nghiệm thu trên máy thật.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6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7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19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5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Lịch tuần 7×48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7" name="Table 4"/>
          <p:cNvGraphicFramePr/>
          <p:nvPr/>
        </p:nvGraphicFramePr>
        <p:xfrm>
          <a:off x="594360" y="1097280"/>
          <a:ext cx="10972440" cy="5074560"/>
        </p:xfrm>
        <a:graphic>
          <a:graphicData uri="http://schemas.openxmlformats.org/drawingml/2006/table">
            <a:tbl>
              <a:tblPr/>
              <a:tblGrid>
                <a:gridCol w="2743200"/>
                <a:gridCol w="8229600"/>
              </a:tblGrid>
              <a:tr h="845640"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Thành phần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Ý nghĩa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0B981"/>
                    </a:solidFill>
                  </a:tcPr>
                </a:tc>
              </a:tr>
              <a:tr h="8456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7 hàng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Thứ Hai đến Chủ Nhật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  <a:tr h="8456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48 cột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Mỗi ô tương ứng 30 phút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</a:tr>
              <a:tr h="8456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Giá trị 1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Được phép sử dụng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  <a:tr h="8456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Giá trị 0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Ngoài khung giờ cho phép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</a:tr>
              <a:tr h="8456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Tiêu chí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Khóa trong 5 giây khi ngoài lịch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</a:tbl>
          </a:graphicData>
        </a:graphic>
      </p:graphicFrame>
      <p:sp>
        <p:nvSpPr>
          <p:cNvPr id="238" name="TextBox 5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Box 6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20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1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Cảnh báo và thời gian ân hạn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Rounded Rectangle 4"/>
          <p:cNvSpPr/>
          <p:nvPr/>
        </p:nvSpPr>
        <p:spPr>
          <a:xfrm>
            <a:off x="5943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4" name="TextBox 5"/>
          <p:cNvSpPr/>
          <p:nvPr/>
        </p:nvSpPr>
        <p:spPr>
          <a:xfrm>
            <a:off x="7588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6"/>
          <p:cNvSpPr/>
          <p:nvPr/>
        </p:nvSpPr>
        <p:spPr>
          <a:xfrm>
            <a:off x="7588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10 phút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"/>
          <p:cNvSpPr/>
          <p:nvPr/>
        </p:nvSpPr>
        <p:spPr>
          <a:xfrm>
            <a:off x="7588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Cảnh báo lần 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8"/>
          <p:cNvSpPr/>
          <p:nvPr/>
        </p:nvSpPr>
        <p:spPr>
          <a:xfrm>
            <a:off x="264456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Rounded Rectangle 9"/>
          <p:cNvSpPr/>
          <p:nvPr/>
        </p:nvSpPr>
        <p:spPr>
          <a:xfrm>
            <a:off x="28180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Box 10"/>
          <p:cNvSpPr/>
          <p:nvPr/>
        </p:nvSpPr>
        <p:spPr>
          <a:xfrm>
            <a:off x="29826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1"/>
          <p:cNvSpPr/>
          <p:nvPr/>
        </p:nvSpPr>
        <p:spPr>
          <a:xfrm>
            <a:off x="29826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5 phút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2"/>
          <p:cNvSpPr/>
          <p:nvPr/>
        </p:nvSpPr>
        <p:spPr>
          <a:xfrm>
            <a:off x="29826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Cảnh báo lần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13"/>
          <p:cNvSpPr/>
          <p:nvPr/>
        </p:nvSpPr>
        <p:spPr>
          <a:xfrm>
            <a:off x="48682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Rounded Rectangle 14"/>
          <p:cNvSpPr/>
          <p:nvPr/>
        </p:nvSpPr>
        <p:spPr>
          <a:xfrm>
            <a:off x="50421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Box 15"/>
          <p:cNvSpPr/>
          <p:nvPr/>
        </p:nvSpPr>
        <p:spPr>
          <a:xfrm>
            <a:off x="52066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16"/>
          <p:cNvSpPr/>
          <p:nvPr/>
        </p:nvSpPr>
        <p:spPr>
          <a:xfrm>
            <a:off x="52066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1 phút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7"/>
          <p:cNvSpPr/>
          <p:nvPr/>
        </p:nvSpPr>
        <p:spPr>
          <a:xfrm>
            <a:off x="52066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Cảnh báo khẩn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18"/>
          <p:cNvSpPr/>
          <p:nvPr/>
        </p:nvSpPr>
        <p:spPr>
          <a:xfrm>
            <a:off x="709200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Rounded Rectangle 19"/>
          <p:cNvSpPr/>
          <p:nvPr/>
        </p:nvSpPr>
        <p:spPr>
          <a:xfrm>
            <a:off x="72658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9" name="TextBox 20"/>
          <p:cNvSpPr/>
          <p:nvPr/>
        </p:nvSpPr>
        <p:spPr>
          <a:xfrm>
            <a:off x="74304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21"/>
          <p:cNvSpPr/>
          <p:nvPr/>
        </p:nvSpPr>
        <p:spPr>
          <a:xfrm>
            <a:off x="74304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Hết giờ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22"/>
          <p:cNvSpPr/>
          <p:nvPr/>
        </p:nvSpPr>
        <p:spPr>
          <a:xfrm>
            <a:off x="74304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Ân hạn 60 giây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23"/>
          <p:cNvSpPr/>
          <p:nvPr/>
        </p:nvSpPr>
        <p:spPr>
          <a:xfrm>
            <a:off x="93160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Rounded Rectangle 24"/>
          <p:cNvSpPr/>
          <p:nvPr/>
        </p:nvSpPr>
        <p:spPr>
          <a:xfrm>
            <a:off x="948960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25"/>
          <p:cNvSpPr/>
          <p:nvPr/>
        </p:nvSpPr>
        <p:spPr>
          <a:xfrm>
            <a:off x="965412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05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26"/>
          <p:cNvSpPr/>
          <p:nvPr/>
        </p:nvSpPr>
        <p:spPr>
          <a:xfrm>
            <a:off x="965412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Khóa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27"/>
          <p:cNvSpPr/>
          <p:nvPr/>
        </p:nvSpPr>
        <p:spPr>
          <a:xfrm>
            <a:off x="965412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Ghi event locked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28"/>
          <p:cNvSpPr/>
          <p:nvPr/>
        </p:nvSpPr>
        <p:spPr>
          <a:xfrm>
            <a:off x="777240" y="489204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Không khóa đột ngột — trẻ có thời gian lưu bài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9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30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21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Giao diện cấu hình chính sách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Rounded Rectangle 4"/>
          <p:cNvSpPr/>
          <p:nvPr/>
        </p:nvSpPr>
        <p:spPr>
          <a:xfrm>
            <a:off x="594360" y="1005840"/>
            <a:ext cx="10972440" cy="525744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74" name="Picture 5" descr="policy.png"/>
          <p:cNvPicPr/>
          <p:nvPr/>
        </p:nvPicPr>
        <p:blipFill>
          <a:blip r:embed="rId1"/>
          <a:stretch/>
        </p:blipFill>
        <p:spPr>
          <a:xfrm>
            <a:off x="1874520" y="1243440"/>
            <a:ext cx="8411760" cy="437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5" name="TextBox 6"/>
          <p:cNvSpPr/>
          <p:nvPr/>
        </p:nvSpPr>
        <p:spPr>
          <a:xfrm>
            <a:off x="822960" y="571500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Ảnh preview: quota · khung giờ · blacklist ứng dụng · blacklist tên miền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22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Luồng đồng bộ policy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Rounded Rectangle 4"/>
          <p:cNvSpPr/>
          <p:nvPr/>
        </p:nvSpPr>
        <p:spPr>
          <a:xfrm>
            <a:off x="5943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2" name="TextBox 5"/>
          <p:cNvSpPr/>
          <p:nvPr/>
        </p:nvSpPr>
        <p:spPr>
          <a:xfrm>
            <a:off x="7588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6"/>
          <p:cNvSpPr/>
          <p:nvPr/>
        </p:nvSpPr>
        <p:spPr>
          <a:xfrm>
            <a:off x="7588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Phụ huynh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7"/>
          <p:cNvSpPr/>
          <p:nvPr/>
        </p:nvSpPr>
        <p:spPr>
          <a:xfrm>
            <a:off x="7588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Lưu chính sách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8"/>
          <p:cNvSpPr/>
          <p:nvPr/>
        </p:nvSpPr>
        <p:spPr>
          <a:xfrm>
            <a:off x="264456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ounded Rectangle 9"/>
          <p:cNvSpPr/>
          <p:nvPr/>
        </p:nvSpPr>
        <p:spPr>
          <a:xfrm>
            <a:off x="28180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10"/>
          <p:cNvSpPr/>
          <p:nvPr/>
        </p:nvSpPr>
        <p:spPr>
          <a:xfrm>
            <a:off x="29826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1"/>
          <p:cNvSpPr/>
          <p:nvPr/>
        </p:nvSpPr>
        <p:spPr>
          <a:xfrm>
            <a:off x="29826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Server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Box 12"/>
          <p:cNvSpPr/>
          <p:nvPr/>
        </p:nvSpPr>
        <p:spPr>
          <a:xfrm>
            <a:off x="29826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Tạo version mới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Box 13"/>
          <p:cNvSpPr/>
          <p:nvPr/>
        </p:nvSpPr>
        <p:spPr>
          <a:xfrm>
            <a:off x="48682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Rounded Rectangle 14"/>
          <p:cNvSpPr/>
          <p:nvPr/>
        </p:nvSpPr>
        <p:spPr>
          <a:xfrm>
            <a:off x="50421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15"/>
          <p:cNvSpPr/>
          <p:nvPr/>
        </p:nvSpPr>
        <p:spPr>
          <a:xfrm>
            <a:off x="52066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16"/>
          <p:cNvSpPr/>
          <p:nvPr/>
        </p:nvSpPr>
        <p:spPr>
          <a:xfrm>
            <a:off x="52066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Heartbeat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Box 17"/>
          <p:cNvSpPr/>
          <p:nvPr/>
        </p:nvSpPr>
        <p:spPr>
          <a:xfrm>
            <a:off x="52066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policy_changed=true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Box 18"/>
          <p:cNvSpPr/>
          <p:nvPr/>
        </p:nvSpPr>
        <p:spPr>
          <a:xfrm>
            <a:off x="709200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Rounded Rectangle 19"/>
          <p:cNvSpPr/>
          <p:nvPr/>
        </p:nvSpPr>
        <p:spPr>
          <a:xfrm>
            <a:off x="72658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TextBox 20"/>
          <p:cNvSpPr/>
          <p:nvPr/>
        </p:nvSpPr>
        <p:spPr>
          <a:xfrm>
            <a:off x="74304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21"/>
          <p:cNvSpPr/>
          <p:nvPr/>
        </p:nvSpPr>
        <p:spPr>
          <a:xfrm>
            <a:off x="74304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Agent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22"/>
          <p:cNvSpPr/>
          <p:nvPr/>
        </p:nvSpPr>
        <p:spPr>
          <a:xfrm>
            <a:off x="74304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GET /policy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Box 23"/>
          <p:cNvSpPr/>
          <p:nvPr/>
        </p:nvSpPr>
        <p:spPr>
          <a:xfrm>
            <a:off x="93160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Rounded Rectangle 24"/>
          <p:cNvSpPr/>
          <p:nvPr/>
        </p:nvSpPr>
        <p:spPr>
          <a:xfrm>
            <a:off x="948960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2" name="TextBox 25"/>
          <p:cNvSpPr/>
          <p:nvPr/>
        </p:nvSpPr>
        <p:spPr>
          <a:xfrm>
            <a:off x="965412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05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Box 26"/>
          <p:cNvSpPr/>
          <p:nvPr/>
        </p:nvSpPr>
        <p:spPr>
          <a:xfrm>
            <a:off x="965412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Enforcer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27"/>
          <p:cNvSpPr/>
          <p:nvPr/>
        </p:nvSpPr>
        <p:spPr>
          <a:xfrm>
            <a:off x="965412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Cache và áp dụng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28"/>
          <p:cNvSpPr/>
          <p:nvPr/>
        </p:nvSpPr>
        <p:spPr>
          <a:xfrm>
            <a:off x="777240" y="489204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Mục tiêu đề bài: chính sách có hiệu lực trong vòng 60 giây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29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30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9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Command thời gian thực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Rounded Rectangle 4"/>
          <p:cNvSpPr/>
          <p:nvPr/>
        </p:nvSpPr>
        <p:spPr>
          <a:xfrm>
            <a:off x="5943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Box 5"/>
          <p:cNvSpPr/>
          <p:nvPr/>
        </p:nvSpPr>
        <p:spPr>
          <a:xfrm>
            <a:off x="7588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Box 6"/>
          <p:cNvSpPr/>
          <p:nvPr/>
        </p:nvSpPr>
        <p:spPr>
          <a:xfrm>
            <a:off x="7588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Dashboard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Box 7"/>
          <p:cNvSpPr/>
          <p:nvPr/>
        </p:nvSpPr>
        <p:spPr>
          <a:xfrm>
            <a:off x="7588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lock / unlock / grant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Box 8"/>
          <p:cNvSpPr/>
          <p:nvPr/>
        </p:nvSpPr>
        <p:spPr>
          <a:xfrm>
            <a:off x="264456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Rounded Rectangle 9"/>
          <p:cNvSpPr/>
          <p:nvPr/>
        </p:nvSpPr>
        <p:spPr>
          <a:xfrm>
            <a:off x="28180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TextBox 10"/>
          <p:cNvSpPr/>
          <p:nvPr/>
        </p:nvSpPr>
        <p:spPr>
          <a:xfrm>
            <a:off x="29826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Box 11"/>
          <p:cNvSpPr/>
          <p:nvPr/>
        </p:nvSpPr>
        <p:spPr>
          <a:xfrm>
            <a:off x="29826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Server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Box 12"/>
          <p:cNvSpPr/>
          <p:nvPr/>
        </p:nvSpPr>
        <p:spPr>
          <a:xfrm>
            <a:off x="29826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Lưu Command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13"/>
          <p:cNvSpPr/>
          <p:nvPr/>
        </p:nvSpPr>
        <p:spPr>
          <a:xfrm>
            <a:off x="48682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Rounded Rectangle 14"/>
          <p:cNvSpPr/>
          <p:nvPr/>
        </p:nvSpPr>
        <p:spPr>
          <a:xfrm>
            <a:off x="50421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2" name="TextBox 15"/>
          <p:cNvSpPr/>
          <p:nvPr/>
        </p:nvSpPr>
        <p:spPr>
          <a:xfrm>
            <a:off x="52066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Box 16"/>
          <p:cNvSpPr/>
          <p:nvPr/>
        </p:nvSpPr>
        <p:spPr>
          <a:xfrm>
            <a:off x="52066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WebSocket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Box 17"/>
          <p:cNvSpPr/>
          <p:nvPr/>
        </p:nvSpPr>
        <p:spPr>
          <a:xfrm>
            <a:off x="52066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Đẩy tức thời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Box 18"/>
          <p:cNvSpPr/>
          <p:nvPr/>
        </p:nvSpPr>
        <p:spPr>
          <a:xfrm>
            <a:off x="709200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Rounded Rectangle 19"/>
          <p:cNvSpPr/>
          <p:nvPr/>
        </p:nvSpPr>
        <p:spPr>
          <a:xfrm>
            <a:off x="72658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7" name="TextBox 20"/>
          <p:cNvSpPr/>
          <p:nvPr/>
        </p:nvSpPr>
        <p:spPr>
          <a:xfrm>
            <a:off x="74304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Box 21"/>
          <p:cNvSpPr/>
          <p:nvPr/>
        </p:nvSpPr>
        <p:spPr>
          <a:xfrm>
            <a:off x="74304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Agent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Box 22"/>
          <p:cNvSpPr/>
          <p:nvPr/>
        </p:nvSpPr>
        <p:spPr>
          <a:xfrm>
            <a:off x="74304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Thực thi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Box 23"/>
          <p:cNvSpPr/>
          <p:nvPr/>
        </p:nvSpPr>
        <p:spPr>
          <a:xfrm>
            <a:off x="93160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Rounded Rectangle 24"/>
          <p:cNvSpPr/>
          <p:nvPr/>
        </p:nvSpPr>
        <p:spPr>
          <a:xfrm>
            <a:off x="948960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2" name="TextBox 25"/>
          <p:cNvSpPr/>
          <p:nvPr/>
        </p:nvSpPr>
        <p:spPr>
          <a:xfrm>
            <a:off x="965412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05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26"/>
          <p:cNvSpPr/>
          <p:nvPr/>
        </p:nvSpPr>
        <p:spPr>
          <a:xfrm>
            <a:off x="965412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ACK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Box 27"/>
          <p:cNvSpPr/>
          <p:nvPr/>
        </p:nvSpPr>
        <p:spPr>
          <a:xfrm>
            <a:off x="965412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Xác nhận kết quả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Box 28"/>
          <p:cNvSpPr/>
          <p:nvPr/>
        </p:nvSpPr>
        <p:spPr>
          <a:xfrm>
            <a:off x="777240" y="489204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Heartbeat là kênh dự phòng khi WebSocket gián đoạn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Box 29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30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24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9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Demo khóa máy đúng hạn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Aptos"/>
              </a:rPr>
              <a:t>TUẦN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Rounded Rectangle 4"/>
          <p:cNvSpPr/>
          <p:nvPr/>
        </p:nvSpPr>
        <p:spPr>
          <a:xfrm>
            <a:off x="594360" y="1005840"/>
            <a:ext cx="10972440" cy="525744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42" name="Picture 5" descr="test-lock.png"/>
          <p:cNvPicPr/>
          <p:nvPr/>
        </p:nvPicPr>
        <p:blipFill>
          <a:blip r:embed="rId1"/>
          <a:stretch/>
        </p:blipFill>
        <p:spPr>
          <a:xfrm>
            <a:off x="2187360" y="1243440"/>
            <a:ext cx="7786440" cy="437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3" name="TextBox 6"/>
          <p:cNvSpPr/>
          <p:nvPr/>
        </p:nvSpPr>
        <p:spPr>
          <a:xfrm>
            <a:off x="822960" y="571500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Preview thử nghiệm Dashboard phát lệnh và máy Windows chuyển sang lock screen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2   ·   25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7" name="Rectangle 2"/>
          <p:cNvSpPr/>
          <p:nvPr/>
        </p:nvSpPr>
        <p:spPr>
          <a:xfrm>
            <a:off x="137160" y="137160"/>
            <a:ext cx="11917080" cy="6583320"/>
          </a:xfrm>
          <a:prstGeom prst="rect">
            <a:avLst/>
          </a:prstGeom>
          <a:solidFill>
            <a:srgbClr val="0A1222"/>
          </a:solidFill>
          <a:ln>
            <a:solidFill>
              <a:srgbClr val="0A12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8" name="TextBox 3"/>
          <p:cNvSpPr/>
          <p:nvPr/>
        </p:nvSpPr>
        <p:spPr>
          <a:xfrm>
            <a:off x="822960" y="1051560"/>
            <a:ext cx="3657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Box 4"/>
          <p:cNvSpPr/>
          <p:nvPr/>
        </p:nvSpPr>
        <p:spPr>
          <a:xfrm>
            <a:off x="822960" y="1828800"/>
            <a:ext cx="9875160" cy="13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Kiểm soát nội dung và báo cáo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Box 5"/>
          <p:cNvSpPr/>
          <p:nvPr/>
        </p:nvSpPr>
        <p:spPr>
          <a:xfrm>
            <a:off x="841320" y="3364920"/>
            <a:ext cx="96008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DNS Proxy · SafeSearch · App Control · Event · Báo cáo · Minh bạch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Box 6"/>
          <p:cNvSpPr/>
          <p:nvPr/>
        </p:nvSpPr>
        <p:spPr>
          <a:xfrm>
            <a:off x="9326880" y="4480560"/>
            <a:ext cx="182844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58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26</a:t>
            </a:r>
            <a:endParaRPr lang="en-US" sz="5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26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5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Kiến trúc lọc website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Rounded Rectangle 4"/>
          <p:cNvSpPr/>
          <p:nvPr/>
        </p:nvSpPr>
        <p:spPr>
          <a:xfrm>
            <a:off x="5943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8" name="TextBox 5"/>
          <p:cNvSpPr/>
          <p:nvPr/>
        </p:nvSpPr>
        <p:spPr>
          <a:xfrm>
            <a:off x="7588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Box 6"/>
          <p:cNvSpPr/>
          <p:nvPr/>
        </p:nvSpPr>
        <p:spPr>
          <a:xfrm>
            <a:off x="7588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Trình duyệt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Box 7"/>
          <p:cNvSpPr/>
          <p:nvPr/>
        </p:nvSpPr>
        <p:spPr>
          <a:xfrm>
            <a:off x="7588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Phát DNS query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Box 8"/>
          <p:cNvSpPr/>
          <p:nvPr/>
        </p:nvSpPr>
        <p:spPr>
          <a:xfrm>
            <a:off x="264456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Rounded Rectangle 9"/>
          <p:cNvSpPr/>
          <p:nvPr/>
        </p:nvSpPr>
        <p:spPr>
          <a:xfrm>
            <a:off x="28180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3" name="TextBox 10"/>
          <p:cNvSpPr/>
          <p:nvPr/>
        </p:nvSpPr>
        <p:spPr>
          <a:xfrm>
            <a:off x="29826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Box 11"/>
          <p:cNvSpPr/>
          <p:nvPr/>
        </p:nvSpPr>
        <p:spPr>
          <a:xfrm>
            <a:off x="29826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Windows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Box 12"/>
          <p:cNvSpPr/>
          <p:nvPr/>
        </p:nvSpPr>
        <p:spPr>
          <a:xfrm>
            <a:off x="29826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Stub resolver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Box 13"/>
          <p:cNvSpPr/>
          <p:nvPr/>
        </p:nvSpPr>
        <p:spPr>
          <a:xfrm>
            <a:off x="48682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Rounded Rectangle 14"/>
          <p:cNvSpPr/>
          <p:nvPr/>
        </p:nvSpPr>
        <p:spPr>
          <a:xfrm>
            <a:off x="50421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8" name="TextBox 15"/>
          <p:cNvSpPr/>
          <p:nvPr/>
        </p:nvSpPr>
        <p:spPr>
          <a:xfrm>
            <a:off x="52066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Box 16"/>
          <p:cNvSpPr/>
          <p:nvPr/>
        </p:nvSpPr>
        <p:spPr>
          <a:xfrm>
            <a:off x="52066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DNS Proxy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Box 17"/>
          <p:cNvSpPr/>
          <p:nvPr/>
        </p:nvSpPr>
        <p:spPr>
          <a:xfrm>
            <a:off x="52066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127.0.0.1:53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Box 18"/>
          <p:cNvSpPr/>
          <p:nvPr/>
        </p:nvSpPr>
        <p:spPr>
          <a:xfrm>
            <a:off x="709200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Rounded Rectangle 19"/>
          <p:cNvSpPr/>
          <p:nvPr/>
        </p:nvSpPr>
        <p:spPr>
          <a:xfrm>
            <a:off x="72658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3" name="TextBox 20"/>
          <p:cNvSpPr/>
          <p:nvPr/>
        </p:nvSpPr>
        <p:spPr>
          <a:xfrm>
            <a:off x="74304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Box 21"/>
          <p:cNvSpPr/>
          <p:nvPr/>
        </p:nvSpPr>
        <p:spPr>
          <a:xfrm>
            <a:off x="74304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Policy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Box 22"/>
          <p:cNvSpPr/>
          <p:nvPr/>
        </p:nvSpPr>
        <p:spPr>
          <a:xfrm>
            <a:off x="74304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Bypass / block / SafeSearch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Box 23"/>
          <p:cNvSpPr/>
          <p:nvPr/>
        </p:nvSpPr>
        <p:spPr>
          <a:xfrm>
            <a:off x="93160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Rounded Rectangle 24"/>
          <p:cNvSpPr/>
          <p:nvPr/>
        </p:nvSpPr>
        <p:spPr>
          <a:xfrm>
            <a:off x="948960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8" name="TextBox 25"/>
          <p:cNvSpPr/>
          <p:nvPr/>
        </p:nvSpPr>
        <p:spPr>
          <a:xfrm>
            <a:off x="965412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05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Box 26"/>
          <p:cNvSpPr/>
          <p:nvPr/>
        </p:nvSpPr>
        <p:spPr>
          <a:xfrm>
            <a:off x="965412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Phản hồi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Box 27"/>
          <p:cNvSpPr/>
          <p:nvPr/>
        </p:nvSpPr>
        <p:spPr>
          <a:xfrm>
            <a:off x="965412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Upstream hoặc chặn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Box 28"/>
          <p:cNvSpPr/>
          <p:nvPr/>
        </p:nvSpPr>
        <p:spPr>
          <a:xfrm>
            <a:off x="777240" y="489204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Mỗi quyết định chặn tạo event và thông báo có lý do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Box 29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Box 30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27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5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Chuẩn hóa tên miền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Rounded Rectangle 4"/>
          <p:cNvSpPr/>
          <p:nvPr/>
        </p:nvSpPr>
        <p:spPr>
          <a:xfrm>
            <a:off x="594360" y="1024200"/>
            <a:ext cx="5714640" cy="5211720"/>
          </a:xfrm>
          <a:prstGeom prst="roundRect">
            <a:avLst>
              <a:gd name="adj" fmla="val 16667"/>
            </a:avLst>
          </a:prstGeom>
          <a:solidFill>
            <a:srgbClr val="050B16"/>
          </a:solidFill>
          <a:ln>
            <a:solidFill>
              <a:srgbClr val="050B1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88" name="TextBox 5"/>
          <p:cNvSpPr/>
          <p:nvPr/>
        </p:nvSpPr>
        <p:spPr>
          <a:xfrm>
            <a:off x="868680" y="1325880"/>
            <a:ext cx="5166000" cy="46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Đầu vào: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https://www.news.example.co.uk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:8443/path?q=abc</a:t>
            </a:r>
            <a:br>
              <a:rPr sz="1500"/>
            </a:b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Chuẩn hóa: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example.co.uk</a:t>
            </a:r>
            <a:br>
              <a:rPr sz="1500"/>
            </a:b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Loại bỏ: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- scheme / port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- path / query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- fragment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Rounded Rectangle 6"/>
          <p:cNvSpPr/>
          <p:nvPr/>
        </p:nvSpPr>
        <p:spPr>
          <a:xfrm>
            <a:off x="6537960" y="1024200"/>
            <a:ext cx="5028840" cy="521172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Box 7"/>
          <p:cNvSpPr/>
          <p:nvPr/>
        </p:nvSpPr>
        <p:spPr>
          <a:xfrm>
            <a:off x="6858000" y="1371600"/>
            <a:ext cx="4434480" cy="452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Dùng Public Suffix List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Chỉ lưu eTLD+1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Không lưu URL đầy đủ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Giảm dữ liệu riêng tư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Box 8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Box 9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28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4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SafeSearch và danh sách bypass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Rounded Rectangle 4"/>
          <p:cNvSpPr/>
          <p:nvPr/>
        </p:nvSpPr>
        <p:spPr>
          <a:xfrm>
            <a:off x="594360" y="1051560"/>
            <a:ext cx="10972440" cy="51660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7" name="TextBox 5"/>
          <p:cNvSpPr/>
          <p:nvPr/>
        </p:nvSpPr>
        <p:spPr>
          <a:xfrm>
            <a:off x="914400" y="1353240"/>
            <a:ext cx="10332360" cy="44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Ép SafeSearch cho Google Search và Bing Search.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Bật chế độ hạn chế phù hợp cho YouTube.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Bypass cố định cho hạ tầng hệ thống và cổng giáo dục cần thiết.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Không cho policy tự chặn dịch vụ khẩn cấp và bảo vệ trẻ em.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Kiểm chứng bằng nslookup và trình duyệt trên Windows.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Box 6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Box 7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29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1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Giới hạn của DNS filtering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Rounded Rectangle 4"/>
          <p:cNvSpPr/>
          <p:nvPr/>
        </p:nvSpPr>
        <p:spPr>
          <a:xfrm>
            <a:off x="594360" y="1051560"/>
            <a:ext cx="10972440" cy="51660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4" name="TextBox 5"/>
          <p:cNvSpPr/>
          <p:nvPr/>
        </p:nvSpPr>
        <p:spPr>
          <a:xfrm>
            <a:off x="914400" y="1353240"/>
            <a:ext cx="10332360" cy="44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DNS-over-HTTPS hoặc DNS-over-TLS có thể tạo đường vòng.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VPN/proxy công cộng thay đổi đường đi lưu lượng.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Truy cập trực tiếp bằng IP không có domain để so khớp.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DNS không lọc được đường dẫn URL trong HTTPS.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Người có quyền Administrator có thể đổi cấu hình mạng.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Cần nêu biện pháp đối phó và rủi ro chấp nhận.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Box 6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Box 7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8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Chặn ứng dụng bằng tên và SHA-256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Rounded Rectangle 4"/>
          <p:cNvSpPr/>
          <p:nvPr/>
        </p:nvSpPr>
        <p:spPr>
          <a:xfrm>
            <a:off x="5943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Box 5"/>
          <p:cNvSpPr/>
          <p:nvPr/>
        </p:nvSpPr>
        <p:spPr>
          <a:xfrm>
            <a:off x="7588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Box 6"/>
          <p:cNvSpPr/>
          <p:nvPr/>
        </p:nvSpPr>
        <p:spPr>
          <a:xfrm>
            <a:off x="7588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psutil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Box 7"/>
          <p:cNvSpPr/>
          <p:nvPr/>
        </p:nvSpPr>
        <p:spPr>
          <a:xfrm>
            <a:off x="7588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Liệt kê process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8"/>
          <p:cNvSpPr/>
          <p:nvPr/>
        </p:nvSpPr>
        <p:spPr>
          <a:xfrm>
            <a:off x="264456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Rounded Rectangle 9"/>
          <p:cNvSpPr/>
          <p:nvPr/>
        </p:nvSpPr>
        <p:spPr>
          <a:xfrm>
            <a:off x="28180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6" name="TextBox 10"/>
          <p:cNvSpPr/>
          <p:nvPr/>
        </p:nvSpPr>
        <p:spPr>
          <a:xfrm>
            <a:off x="29826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Box 11"/>
          <p:cNvSpPr/>
          <p:nvPr/>
        </p:nvSpPr>
        <p:spPr>
          <a:xfrm>
            <a:off x="29826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Executable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Box 12"/>
          <p:cNvSpPr/>
          <p:nvPr/>
        </p:nvSpPr>
        <p:spPr>
          <a:xfrm>
            <a:off x="29826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Tên + đường dẫn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Box 13"/>
          <p:cNvSpPr/>
          <p:nvPr/>
        </p:nvSpPr>
        <p:spPr>
          <a:xfrm>
            <a:off x="48682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Rounded Rectangle 14"/>
          <p:cNvSpPr/>
          <p:nvPr/>
        </p:nvSpPr>
        <p:spPr>
          <a:xfrm>
            <a:off x="50421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1" name="TextBox 15"/>
          <p:cNvSpPr/>
          <p:nvPr/>
        </p:nvSpPr>
        <p:spPr>
          <a:xfrm>
            <a:off x="52066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Box 16"/>
          <p:cNvSpPr/>
          <p:nvPr/>
        </p:nvSpPr>
        <p:spPr>
          <a:xfrm>
            <a:off x="52066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SHA-256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Box 17"/>
          <p:cNvSpPr/>
          <p:nvPr/>
        </p:nvSpPr>
        <p:spPr>
          <a:xfrm>
            <a:off x="52066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Tính hoặc cache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18"/>
          <p:cNvSpPr/>
          <p:nvPr/>
        </p:nvSpPr>
        <p:spPr>
          <a:xfrm>
            <a:off x="709200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Rounded Rectangle 19"/>
          <p:cNvSpPr/>
          <p:nvPr/>
        </p:nvSpPr>
        <p:spPr>
          <a:xfrm>
            <a:off x="72658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26" name="TextBox 20"/>
          <p:cNvSpPr/>
          <p:nvPr/>
        </p:nvSpPr>
        <p:spPr>
          <a:xfrm>
            <a:off x="74304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Box 21"/>
          <p:cNvSpPr/>
          <p:nvPr/>
        </p:nvSpPr>
        <p:spPr>
          <a:xfrm>
            <a:off x="74304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Policy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Box 22"/>
          <p:cNvSpPr/>
          <p:nvPr/>
        </p:nvSpPr>
        <p:spPr>
          <a:xfrm>
            <a:off x="74304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So blacklist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Box 23"/>
          <p:cNvSpPr/>
          <p:nvPr/>
        </p:nvSpPr>
        <p:spPr>
          <a:xfrm>
            <a:off x="93160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Rounded Rectangle 24"/>
          <p:cNvSpPr/>
          <p:nvPr/>
        </p:nvSpPr>
        <p:spPr>
          <a:xfrm>
            <a:off x="948960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1" name="TextBox 25"/>
          <p:cNvSpPr/>
          <p:nvPr/>
        </p:nvSpPr>
        <p:spPr>
          <a:xfrm>
            <a:off x="965412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05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Box 26"/>
          <p:cNvSpPr/>
          <p:nvPr/>
        </p:nvSpPr>
        <p:spPr>
          <a:xfrm>
            <a:off x="965412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Enforcer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Box 27"/>
          <p:cNvSpPr/>
          <p:nvPr/>
        </p:nvSpPr>
        <p:spPr>
          <a:xfrm>
            <a:off x="965412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Kill + notify + event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Box 28"/>
          <p:cNvSpPr/>
          <p:nvPr/>
        </p:nvSpPr>
        <p:spPr>
          <a:xfrm>
            <a:off x="777240" y="489204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Đổi tên executable không thay đổi SHA-256 của tệp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Box 29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Box 30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31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Hợp đồng sự kiện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Rounded Rectangle 4"/>
          <p:cNvSpPr/>
          <p:nvPr/>
        </p:nvSpPr>
        <p:spPr>
          <a:xfrm>
            <a:off x="594360" y="1024200"/>
            <a:ext cx="5714640" cy="5211720"/>
          </a:xfrm>
          <a:prstGeom prst="roundRect">
            <a:avLst>
              <a:gd name="adj" fmla="val 16667"/>
            </a:avLst>
          </a:prstGeom>
          <a:solidFill>
            <a:srgbClr val="050B16"/>
          </a:solidFill>
          <a:ln>
            <a:solidFill>
              <a:srgbClr val="050B1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1" name="TextBox 5"/>
          <p:cNvSpPr/>
          <p:nvPr/>
        </p:nvSpPr>
        <p:spPr>
          <a:xfrm>
            <a:off x="868680" y="1325880"/>
            <a:ext cx="5166000" cy="46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{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"idempotency_key": "ev_6c47...",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"type": "blocked_domain",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"subject": "youtube.com",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"duration_sec": 0,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"policy_version": 15,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  "created_at": "...Z"</a:t>
            </a: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}</a:t>
            </a:r>
            <a:br>
              <a:rPr sz="1500"/>
            </a:br>
            <a:br>
              <a:rPr sz="1500"/>
            </a:br>
            <a:r>
              <a:rPr lang="en-US" sz="1500" b="0" u="none" strike="noStrike">
                <a:solidFill>
                  <a:srgbClr val="A7F3D0"/>
                </a:solidFill>
                <a:effectLst/>
                <a:uFillTx/>
                <a:latin typeface="Consolas"/>
              </a:rPr>
              <a:t>9 loại sự kiện hợp lệ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Rounded Rectangle 6"/>
          <p:cNvSpPr/>
          <p:nvPr/>
        </p:nvSpPr>
        <p:spPr>
          <a:xfrm>
            <a:off x="6537960" y="1024200"/>
            <a:ext cx="5028840" cy="521172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3" name="TextBox 7"/>
          <p:cNvSpPr/>
          <p:nvPr/>
        </p:nvSpPr>
        <p:spPr>
          <a:xfrm>
            <a:off x="6858000" y="1371600"/>
            <a:ext cx="4434480" cy="452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Enum đóng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Subject được chuẩn hóa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Không chứa URL đầy đủ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Server từ chối trường thừa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Khác nhẹ schema đề bài: ts/policy_id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Box 8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Box 9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32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Đồng bộ sự kiện khi mất mạng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Rounded Rectangle 4"/>
          <p:cNvSpPr/>
          <p:nvPr/>
        </p:nvSpPr>
        <p:spPr>
          <a:xfrm>
            <a:off x="5943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0" name="TextBox 5"/>
          <p:cNvSpPr/>
          <p:nvPr/>
        </p:nvSpPr>
        <p:spPr>
          <a:xfrm>
            <a:off x="7588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Box 6"/>
          <p:cNvSpPr/>
          <p:nvPr/>
        </p:nvSpPr>
        <p:spPr>
          <a:xfrm>
            <a:off x="7588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Phát sinh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Box 7"/>
          <p:cNvSpPr/>
          <p:nvPr/>
        </p:nvSpPr>
        <p:spPr>
          <a:xfrm>
            <a:off x="7588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Tạo event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Box 8"/>
          <p:cNvSpPr/>
          <p:nvPr/>
        </p:nvSpPr>
        <p:spPr>
          <a:xfrm>
            <a:off x="264456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Rounded Rectangle 9"/>
          <p:cNvSpPr/>
          <p:nvPr/>
        </p:nvSpPr>
        <p:spPr>
          <a:xfrm>
            <a:off x="28180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55" name="TextBox 10"/>
          <p:cNvSpPr/>
          <p:nvPr/>
        </p:nvSpPr>
        <p:spPr>
          <a:xfrm>
            <a:off x="29826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Box 11"/>
          <p:cNvSpPr/>
          <p:nvPr/>
        </p:nvSpPr>
        <p:spPr>
          <a:xfrm>
            <a:off x="29826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SQLite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Box 12"/>
          <p:cNvSpPr/>
          <p:nvPr/>
        </p:nvSpPr>
        <p:spPr>
          <a:xfrm>
            <a:off x="29826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event_queue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Box 13"/>
          <p:cNvSpPr/>
          <p:nvPr/>
        </p:nvSpPr>
        <p:spPr>
          <a:xfrm>
            <a:off x="48682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Rounded Rectangle 14"/>
          <p:cNvSpPr/>
          <p:nvPr/>
        </p:nvSpPr>
        <p:spPr>
          <a:xfrm>
            <a:off x="50421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0" name="TextBox 15"/>
          <p:cNvSpPr/>
          <p:nvPr/>
        </p:nvSpPr>
        <p:spPr>
          <a:xfrm>
            <a:off x="52066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Box 16"/>
          <p:cNvSpPr/>
          <p:nvPr/>
        </p:nvSpPr>
        <p:spPr>
          <a:xfrm>
            <a:off x="52066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Batch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Box 17"/>
          <p:cNvSpPr/>
          <p:nvPr/>
        </p:nvSpPr>
        <p:spPr>
          <a:xfrm>
            <a:off x="52066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Tối đa 100 mục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Box 18"/>
          <p:cNvSpPr/>
          <p:nvPr/>
        </p:nvSpPr>
        <p:spPr>
          <a:xfrm>
            <a:off x="709200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Rounded Rectangle 19"/>
          <p:cNvSpPr/>
          <p:nvPr/>
        </p:nvSpPr>
        <p:spPr>
          <a:xfrm>
            <a:off x="72658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5" name="TextBox 20"/>
          <p:cNvSpPr/>
          <p:nvPr/>
        </p:nvSpPr>
        <p:spPr>
          <a:xfrm>
            <a:off x="74304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Box 21"/>
          <p:cNvSpPr/>
          <p:nvPr/>
        </p:nvSpPr>
        <p:spPr>
          <a:xfrm>
            <a:off x="74304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Server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Box 22"/>
          <p:cNvSpPr/>
          <p:nvPr/>
        </p:nvSpPr>
        <p:spPr>
          <a:xfrm>
            <a:off x="74304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Dedupe theo key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Box 23"/>
          <p:cNvSpPr/>
          <p:nvPr/>
        </p:nvSpPr>
        <p:spPr>
          <a:xfrm>
            <a:off x="93160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Rounded Rectangle 24"/>
          <p:cNvSpPr/>
          <p:nvPr/>
        </p:nvSpPr>
        <p:spPr>
          <a:xfrm>
            <a:off x="948960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0" name="TextBox 25"/>
          <p:cNvSpPr/>
          <p:nvPr/>
        </p:nvSpPr>
        <p:spPr>
          <a:xfrm>
            <a:off x="965412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05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Box 26"/>
          <p:cNvSpPr/>
          <p:nvPr/>
        </p:nvSpPr>
        <p:spPr>
          <a:xfrm>
            <a:off x="965412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Agent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Box 27"/>
          <p:cNvSpPr/>
          <p:nvPr/>
        </p:nvSpPr>
        <p:spPr>
          <a:xfrm>
            <a:off x="965412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Xóa khi thành công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Box 28"/>
          <p:cNvSpPr/>
          <p:nvPr/>
        </p:nvSpPr>
        <p:spPr>
          <a:xfrm>
            <a:off x="777240" y="489204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At-least-once ở Agent · chống ghi trùng ở Server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Box 29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Box 30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33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7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Hạ tầng phân loại website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79" name="Table 4"/>
          <p:cNvGraphicFramePr/>
          <p:nvPr/>
        </p:nvGraphicFramePr>
        <p:xfrm>
          <a:off x="594360" y="1097280"/>
          <a:ext cx="10972440" cy="507456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  <a:gridCol w="5486400"/>
              </a:tblGrid>
              <a:tr h="724680"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Nhóm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Số lượng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Mục đích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9E0B"/>
                    </a:solidFill>
                  </a:tcPr>
                </a:tc>
              </a:tr>
              <a:tr h="72468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Giáo dục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60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Kiểm tra dương tính giả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  <a:tr h="72468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Giải trí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40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Phân loại báo cáo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</a:tr>
              <a:tr h="72468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Mạng xã hội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30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Policy 6–11 tuổi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  <a:tr h="72468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Trò chơi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30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Theo dõi/kiểm soát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</a:tr>
              <a:tr h="72468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Không phù hợp – mô phỏng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20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Không dùng nội dung người lớn thật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  <a:tr h="72468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Chưa phân loại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20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Fallback an toàn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</a:tr>
            </a:tbl>
          </a:graphicData>
        </a:graphic>
      </p:graphicFrame>
      <p:sp>
        <p:nvSpPr>
          <p:cNvPr id="480" name="TextBox 5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Box 6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34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Báo cáo dành cho phụ huynh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Rounded Rectangle 4"/>
          <p:cNvSpPr/>
          <p:nvPr/>
        </p:nvSpPr>
        <p:spPr>
          <a:xfrm>
            <a:off x="594360" y="1051560"/>
            <a:ext cx="10972440" cy="51660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6" name="TextBox 5"/>
          <p:cNvSpPr/>
          <p:nvPr/>
        </p:nvSpPr>
        <p:spPr>
          <a:xfrm>
            <a:off x="914400" y="1353240"/>
            <a:ext cx="10332360" cy="44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Thời lượng sử dụng theo ngày và theo tuần.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Top ứng dụng và top tên miền.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Số lần ứng dụng hoặc website bị chặn.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Phân loại hoạt động và sự kiện gần đây.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Danh sách yêu cầu của trẻ.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Xuất báo cáo tuần ra PDF.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Box 6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Box 7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35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0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Giao diện yêu cầu từ trẻ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Rounded Rectangle 4"/>
          <p:cNvSpPr/>
          <p:nvPr/>
        </p:nvSpPr>
        <p:spPr>
          <a:xfrm>
            <a:off x="594360" y="1005840"/>
            <a:ext cx="10972440" cy="525744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93" name="Picture 5" descr="child-requests.png"/>
          <p:cNvPicPr/>
          <p:nvPr/>
        </p:nvPicPr>
        <p:blipFill>
          <a:blip r:embed="rId1"/>
          <a:stretch/>
        </p:blipFill>
        <p:spPr>
          <a:xfrm>
            <a:off x="850320" y="1914840"/>
            <a:ext cx="10460520" cy="303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4" name="TextBox 6"/>
          <p:cNvSpPr/>
          <p:nvPr/>
        </p:nvSpPr>
        <p:spPr>
          <a:xfrm>
            <a:off x="822960" y="5715000"/>
            <a:ext cx="10515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Preview phiên bản cũ — bản cuối nên có request pending và approved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Box 7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Box 8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36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Màn hình minh bạch dành cho trẻ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Rounded Rectangle 4"/>
          <p:cNvSpPr/>
          <p:nvPr/>
        </p:nvSpPr>
        <p:spPr>
          <a:xfrm>
            <a:off x="594360" y="1051560"/>
            <a:ext cx="10972440" cy="51660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1" name="TextBox 5"/>
          <p:cNvSpPr/>
          <p:nvPr/>
        </p:nvSpPr>
        <p:spPr>
          <a:xfrm>
            <a:off x="914400" y="1353240"/>
            <a:ext cx="10332360" cy="44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Hiển thị thời gian đã dùng và thời gian còn lại.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Cho trẻ xem chính sách đang áp dụng.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Thông báo ứng dụng/website bị chặn và lý do.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Nút xin thêm 15/30/60 phút.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Màn hình “Hôm nay em đã dùng gì”.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Không có chế độ ẩn hoặc thu thập nội dung riêng tư.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Rounded Rectangle 6"/>
          <p:cNvSpPr/>
          <p:nvPr/>
        </p:nvSpPr>
        <p:spPr>
          <a:xfrm>
            <a:off x="914400" y="5440680"/>
            <a:ext cx="10332360" cy="5025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3" name="TextBox 7"/>
          <p:cNvSpPr/>
          <p:nvPr/>
        </p:nvSpPr>
        <p:spPr>
          <a:xfrm>
            <a:off x="1097280" y="5559480"/>
            <a:ext cx="9966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NT1–NT5: trẻ biết, hiểu và có tiếng nói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Box 8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Box 9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37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Xóa dữ liệu và thời hạn lưu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TUẦN 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Rounded Rectangle 4"/>
          <p:cNvSpPr/>
          <p:nvPr/>
        </p:nvSpPr>
        <p:spPr>
          <a:xfrm>
            <a:off x="5943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Box 5"/>
          <p:cNvSpPr/>
          <p:nvPr/>
        </p:nvSpPr>
        <p:spPr>
          <a:xfrm>
            <a:off x="7588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Box 6"/>
          <p:cNvSpPr/>
          <p:nvPr/>
        </p:nvSpPr>
        <p:spPr>
          <a:xfrm>
            <a:off x="7588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90 ngày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Box 7"/>
          <p:cNvSpPr/>
          <p:nvPr/>
        </p:nvSpPr>
        <p:spPr>
          <a:xfrm>
            <a:off x="7588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Retention tự động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Box 8"/>
          <p:cNvSpPr/>
          <p:nvPr/>
        </p:nvSpPr>
        <p:spPr>
          <a:xfrm>
            <a:off x="264456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Rounded Rectangle 9"/>
          <p:cNvSpPr/>
          <p:nvPr/>
        </p:nvSpPr>
        <p:spPr>
          <a:xfrm>
            <a:off x="28180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15" name="TextBox 10"/>
          <p:cNvSpPr/>
          <p:nvPr/>
        </p:nvSpPr>
        <p:spPr>
          <a:xfrm>
            <a:off x="29826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Box 11"/>
          <p:cNvSpPr/>
          <p:nvPr/>
        </p:nvSpPr>
        <p:spPr>
          <a:xfrm>
            <a:off x="29826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Phụ huynh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Box 12"/>
          <p:cNvSpPr/>
          <p:nvPr/>
        </p:nvSpPr>
        <p:spPr>
          <a:xfrm>
            <a:off x="29826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Yêu cầu purge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Box 13"/>
          <p:cNvSpPr/>
          <p:nvPr/>
        </p:nvSpPr>
        <p:spPr>
          <a:xfrm>
            <a:off x="48682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Rounded Rectangle 14"/>
          <p:cNvSpPr/>
          <p:nvPr/>
        </p:nvSpPr>
        <p:spPr>
          <a:xfrm>
            <a:off x="504216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0" name="TextBox 15"/>
          <p:cNvSpPr/>
          <p:nvPr/>
        </p:nvSpPr>
        <p:spPr>
          <a:xfrm>
            <a:off x="520668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Box 16"/>
          <p:cNvSpPr/>
          <p:nvPr/>
        </p:nvSpPr>
        <p:spPr>
          <a:xfrm>
            <a:off x="520668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Server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Box 17"/>
          <p:cNvSpPr/>
          <p:nvPr/>
        </p:nvSpPr>
        <p:spPr>
          <a:xfrm>
            <a:off x="520668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Xóa event/request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Box 18"/>
          <p:cNvSpPr/>
          <p:nvPr/>
        </p:nvSpPr>
        <p:spPr>
          <a:xfrm>
            <a:off x="709200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Rounded Rectangle 19"/>
          <p:cNvSpPr/>
          <p:nvPr/>
        </p:nvSpPr>
        <p:spPr>
          <a:xfrm>
            <a:off x="726588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243752"/>
          </a:solidFill>
          <a:ln>
            <a:solidFill>
              <a:srgbClr val="24375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25" name="TextBox 20"/>
          <p:cNvSpPr/>
          <p:nvPr/>
        </p:nvSpPr>
        <p:spPr>
          <a:xfrm>
            <a:off x="743040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Box 21"/>
          <p:cNvSpPr/>
          <p:nvPr/>
        </p:nvSpPr>
        <p:spPr>
          <a:xfrm>
            <a:off x="743040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Command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Box 22"/>
          <p:cNvSpPr/>
          <p:nvPr/>
        </p:nvSpPr>
        <p:spPr>
          <a:xfrm>
            <a:off x="743040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clear_data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Box 23"/>
          <p:cNvSpPr/>
          <p:nvPr/>
        </p:nvSpPr>
        <p:spPr>
          <a:xfrm>
            <a:off x="9316080" y="2743200"/>
            <a:ext cx="237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→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Rounded Rectangle 24"/>
          <p:cNvSpPr/>
          <p:nvPr/>
        </p:nvSpPr>
        <p:spPr>
          <a:xfrm>
            <a:off x="9489600" y="1828800"/>
            <a:ext cx="2077200" cy="255996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0" name="TextBox 25"/>
          <p:cNvSpPr/>
          <p:nvPr/>
        </p:nvSpPr>
        <p:spPr>
          <a:xfrm>
            <a:off x="9654120" y="2011680"/>
            <a:ext cx="17478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05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Box 26"/>
          <p:cNvSpPr/>
          <p:nvPr/>
        </p:nvSpPr>
        <p:spPr>
          <a:xfrm>
            <a:off x="9654120" y="2578680"/>
            <a:ext cx="1747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Agent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Box 27"/>
          <p:cNvSpPr/>
          <p:nvPr/>
        </p:nvSpPr>
        <p:spPr>
          <a:xfrm>
            <a:off x="9654120" y="3154680"/>
            <a:ext cx="17478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Xóa queue/bộ đếm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Box 28"/>
          <p:cNvSpPr/>
          <p:nvPr/>
        </p:nvSpPr>
        <p:spPr>
          <a:xfrm>
            <a:off x="777240" y="489204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59E0B"/>
                </a:solidFill>
                <a:effectLst/>
                <a:uFillTx/>
                <a:latin typeface="Aptos"/>
              </a:rPr>
              <a:t>Cần kiểm chứng dữ liệu bị xóa trên cả hai SQLite database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Box 29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Box 30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Tuần 3   ·   38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37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Kết quả sau ba tuần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TỔNG KẾT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39" name="Table 4"/>
          <p:cNvGraphicFramePr/>
          <p:nvPr/>
        </p:nvGraphicFramePr>
        <p:xfrm>
          <a:off x="594360" y="1097280"/>
          <a:ext cx="10972440" cy="5074560"/>
        </p:xfrm>
        <a:graphic>
          <a:graphicData uri="http://schemas.openxmlformats.org/drawingml/2006/table">
            <a:tbl>
              <a:tblPr/>
              <a:tblGrid>
                <a:gridCol w="2011680"/>
                <a:gridCol w="8961120"/>
              </a:tblGrid>
              <a:tr h="1268640"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Tuần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Kết quả chính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</a:tr>
              <a:tr h="12686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Tuần 1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Kiến trúc, database, enrollment, heartbeat và Dashboard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  <a:tr h="12686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Tuần 2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Quota, lịch tuần, monotonic clock, policy và WebSocket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</a:tr>
              <a:tr h="12686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Tuần 3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DNS, SafeSearch, app control, event, báo cáo và giao diện trẻ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</a:tbl>
          </a:graphicData>
        </a:graphic>
      </p:graphicFrame>
      <p:sp>
        <p:nvSpPr>
          <p:cNvPr id="540" name="TextBox 5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Box 6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Tổng kết   ·   39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3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Mức độ hoàn thành F1–F5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TỔNG KẾT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45" name="Table 4"/>
          <p:cNvGraphicFramePr/>
          <p:nvPr/>
        </p:nvGraphicFramePr>
        <p:xfrm>
          <a:off x="594360" y="1097280"/>
          <a:ext cx="10972440" cy="5074560"/>
        </p:xfrm>
        <a:graphic>
          <a:graphicData uri="http://schemas.openxmlformats.org/drawingml/2006/table">
            <a:tbl>
              <a:tblPr/>
              <a:tblGrid>
                <a:gridCol w="1828800"/>
                <a:gridCol w="9144000"/>
              </a:tblGrid>
              <a:tr h="845640"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Nhóm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Đánh giá trung thực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</a:tr>
              <a:tr h="8456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F1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Phần lớn logic đã có; thiếu quota riêng ngày thường/cuối tuần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  <a:tr h="8456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F2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Blacklist/hash/DNS/SafeSearch có; DoH và allowlist còn thiếu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</a:tr>
              <a:tr h="8456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F3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Event/report/retention có; thiếu PRIVACY.md và cần thống nhất schema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  <a:tr h="8456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F4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Version/WebSocket có; thiếu HMAC và audit old/new/IP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</a:tr>
              <a:tr h="8456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F5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4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Một phần; cần sửa auth, CSRF, ownership, encryption và STRIDE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</a:tbl>
          </a:graphicData>
        </a:graphic>
      </p:graphicFrame>
      <p:sp>
        <p:nvSpPr>
          <p:cNvPr id="546" name="TextBox 5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Box 6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Tổng kết   ·   40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9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Hạn chế và công việc cần hoàn thiện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Aptos"/>
              </a:rPr>
              <a:t>TỔNG KẾT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Rounded Rectangle 4"/>
          <p:cNvSpPr/>
          <p:nvPr/>
        </p:nvSpPr>
        <p:spPr>
          <a:xfrm>
            <a:off x="594360" y="1051560"/>
            <a:ext cx="10972440" cy="51660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2" name="TextBox 5"/>
          <p:cNvSpPr/>
          <p:nvPr/>
        </p:nvSpPr>
        <p:spPr>
          <a:xfrm>
            <a:off x="914400" y="1353240"/>
            <a:ext cx="10332360" cy="443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Argon2id/scrypt, secret từ môi trường, Secure cookie và CSRF.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Xác thực và ownership trên mọi API phụ huynh.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HMAC/chữ ký policy; audit có IP và giá trị cũ/mới.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Windows Service, ACL và bộ cài có recovery.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Điều tra test suite đang treo và chạy lại toàn bộ.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000" b="0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•  Đo CPU/RAM, DNS p50/p95 và latency với ≥30 mẫu.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Box 6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Box 7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Tổng kết   ·   41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56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Phân công và đóng góp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TỔNG KẾT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58" name="Table 4"/>
          <p:cNvGraphicFramePr/>
          <p:nvPr/>
        </p:nvGraphicFramePr>
        <p:xfrm>
          <a:off x="594360" y="1097280"/>
          <a:ext cx="10972440" cy="5074920"/>
        </p:xfrm>
        <a:graphic>
          <a:graphicData uri="http://schemas.openxmlformats.org/drawingml/2006/table">
            <a:tbl>
              <a:tblPr/>
              <a:tblGrid>
                <a:gridCol w="3017520"/>
                <a:gridCol w="6217920"/>
                <a:gridCol w="1737360"/>
              </a:tblGrid>
              <a:tr h="1691640"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Thành viên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Hạng mục minh chứng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Tỷ lệ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2D3EE"/>
                    </a:solidFill>
                  </a:tcPr>
                </a:tc>
              </a:tr>
              <a:tr h="16916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Nguyễn Văn Phước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23120074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[Module · commit · test · tài liệu]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[x%]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D2B42"/>
                    </a:solidFill>
                  </a:tcPr>
                </a:tc>
              </a:tr>
              <a:tr h="1691640"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Hà Công Thuận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23120094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[Module · commit · test · tài liệu]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  <a:tc>
                  <a:txBody>
                    <a:bodyPr lIns="73080" rIns="7308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F5F8FF"/>
                          </a:solidFill>
                          <a:effectLst/>
                          <a:uFillTx/>
                          <a:latin typeface="Aptos"/>
                        </a:rPr>
                        <a:t>[100−x%]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3080" marR="7308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43752"/>
                    </a:solidFill>
                  </a:tcPr>
                </a:tc>
              </a:tr>
            </a:tbl>
          </a:graphicData>
        </a:graphic>
      </p:graphicFrame>
      <p:sp>
        <p:nvSpPr>
          <p:cNvPr id="559" name="TextBox 5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Box 6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Tổng kết   ·   42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1"/>
          <p:cNvSpPr/>
          <p:nvPr/>
        </p:nvSpPr>
        <p:spPr>
          <a:xfrm>
            <a:off x="0" y="0"/>
            <a:ext cx="12191400" cy="72720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Box 2"/>
          <p:cNvSpPr/>
          <p:nvPr/>
        </p:nvSpPr>
        <p:spPr>
          <a:xfrm>
            <a:off x="594360" y="3110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5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Kết luận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Box 3"/>
          <p:cNvSpPr/>
          <p:nvPr/>
        </p:nvSpPr>
        <p:spPr>
          <a:xfrm>
            <a:off x="9829800" y="40248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Q&amp;A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Box 4"/>
          <p:cNvSpPr/>
          <p:nvPr/>
        </p:nvSpPr>
        <p:spPr>
          <a:xfrm>
            <a:off x="914400" y="1371600"/>
            <a:ext cx="1033236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9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ChildGuard đã hình thành luồng end-to-end</a:t>
            </a:r>
            <a:br>
              <a:rPr sz="2900"/>
            </a:br>
            <a:r>
              <a:rPr lang="en-US" sz="29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từ phụ huynh cấu hình đến Agent thực thi</a:t>
            </a:r>
            <a:br>
              <a:rPr sz="2900"/>
            </a:br>
            <a:r>
              <a:rPr lang="en-US" sz="29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và gửi kết quả trở lại Dashboard.</a:t>
            </a:r>
            <a:endParaRPr lang="en-US" sz="2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Rounded Rectangle 5"/>
          <p:cNvSpPr/>
          <p:nvPr/>
        </p:nvSpPr>
        <p:spPr>
          <a:xfrm>
            <a:off x="2057400" y="3337560"/>
            <a:ext cx="8092080" cy="1051200"/>
          </a:xfrm>
          <a:prstGeom prst="roundRect">
            <a:avLst>
              <a:gd name="adj" fmla="val 16667"/>
            </a:avLst>
          </a:prstGeom>
          <a:solidFill>
            <a:srgbClr val="1D2B42"/>
          </a:solidFill>
          <a:ln>
            <a:solidFill>
              <a:srgbClr val="1D2B4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Box 6"/>
          <p:cNvSpPr/>
          <p:nvPr/>
        </p:nvSpPr>
        <p:spPr>
          <a:xfrm>
            <a:off x="2240280" y="3657600"/>
            <a:ext cx="77263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2D3EE"/>
                </a:solidFill>
                <a:effectLst/>
                <a:uFillTx/>
                <a:latin typeface="Aptos"/>
              </a:rPr>
              <a:t>Minh bạch · Hoạt động ngoại tuyến · Tối thiểu dữ liệu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Box 7"/>
          <p:cNvSpPr/>
          <p:nvPr/>
        </p:nvSpPr>
        <p:spPr>
          <a:xfrm>
            <a:off x="2011680" y="5074920"/>
            <a:ext cx="81835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5F8FF"/>
                </a:solidFill>
                <a:effectLst/>
                <a:uFillTx/>
                <a:latin typeface="Aptos"/>
              </a:rPr>
              <a:t>CẢM ƠN THẦY VÀ CÁC BẠN — Q&amp;A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Box 8"/>
          <p:cNvSpPr/>
          <p:nvPr/>
        </p:nvSpPr>
        <p:spPr>
          <a:xfrm>
            <a:off x="594360" y="6546960"/>
            <a:ext cx="65833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ChildGuard · An Open Guard Kids Application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Box 9"/>
          <p:cNvSpPr/>
          <p:nvPr/>
        </p:nvSpPr>
        <p:spPr>
          <a:xfrm>
            <a:off x="9326880" y="654696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0B1CC"/>
                </a:solidFill>
                <a:effectLst/>
                <a:uFillTx/>
                <a:latin typeface="Aptos"/>
              </a:rPr>
              <a:t>Kết thúc   ·   43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LibreOffice/26.2.4.2$Linux_X86_64 LibreOffice_project/0229ac93fcf0d7cbc6376066c6f35021cef002dc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Nguyễn Văn Phước; Hà Công Thuận</dc:creator>
  <dc:description>Các ảnh giao diện được ghi rõ là preview phiên bản cũ.</dc:description>
  <dc:language>en-US</dc:language>
  <cp:lastModifiedBy/>
  <dcterms:modified xsi:type="dcterms:W3CDTF">2026-10-19T11:28:18Z</dcterms:modified>
  <cp:revision>2</cp:revision>
  <dc:subject>Kiến trúc, quản lý thời gian, kiểm soát nội dung và báo cáo</dc:subject>
  <dc:title>ChildGuard – Hành trình phát triển 3 tuần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