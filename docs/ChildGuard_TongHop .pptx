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C01030-153F-4F60-95F2-967877ABB2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16A92A-8F42-4A57-992F-A2D87D095D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19B22F-37E3-413B-A97F-AE97E53CE1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5983E0-8832-4B91-AAA3-AA6E5171C8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E3B107-C589-4BA5-9A00-9D5956B916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FD66A5-56AE-4C75-9152-9923F107CD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06B509-5875-4128-AF8A-D153EF25B7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2D7578-BB65-4052-AE3A-25BA8B863A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60F7AF-4EE5-4C1E-B732-9E0E3F7C0C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0B3AD6-C4EF-4333-9714-88E3927B03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4A3DA7-3E75-4B7D-ADF3-4255CC1497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658440" y="658440"/>
            <a:ext cx="1005480" cy="10054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58440" y="722520"/>
            <a:ext cx="10054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CG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874520" y="758880"/>
            <a:ext cx="6217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CHILDGUARD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874520" y="113400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AN OPEN GUARD KIDS APPLICATION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31520" y="1874520"/>
            <a:ext cx="731484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Hành trình xây dựng hệ thống</a:t>
            </a:r>
            <a:br>
              <a:rPr sz="3100"/>
            </a:br>
            <a:r>
              <a:rPr lang="en-US" sz="31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qua 3 tuần phát triển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758880" y="3456360"/>
            <a:ext cx="7954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Agent Windows · FastAPI Server · Dashboard phụ huynh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8"/>
          <p:cNvSpPr/>
          <p:nvPr/>
        </p:nvSpPr>
        <p:spPr>
          <a:xfrm>
            <a:off x="8732520" y="1600200"/>
            <a:ext cx="2422800" cy="33372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8915400" y="1965960"/>
            <a:ext cx="2011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03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8869680" y="29718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TUẦN PHÁT TRIỂN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9006840" y="3493080"/>
            <a:ext cx="18284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Kiến trúc</a:t>
            </a:r>
            <a:br>
              <a:rPr sz="1500"/>
            </a:br>
            <a:r>
              <a:rPr lang="en-US" sz="15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Thời gian</a:t>
            </a:r>
            <a:br>
              <a:rPr sz="1500"/>
            </a:br>
            <a:r>
              <a:rPr lang="en-US" sz="15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Nội dung &amp; báo cáo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758880" y="4892040"/>
            <a:ext cx="5668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Nguyễn Văn Phước — 23120074</a:t>
            </a:r>
            <a:br>
              <a:rPr sz="1600"/>
            </a:b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Hà Công Thuận — 23120094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58880" y="5715000"/>
            <a:ext cx="73148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GVHD: Đỗ Hoàng Cường</a:t>
            </a:r>
            <a:br>
              <a:rPr sz="1200"/>
            </a:b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Trường Đại học Khoa học Tự nhiên, ĐHQG-HCM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Mở đầu   ·   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Bài toán cần giải quyết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MỞ ĐẦU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914400" y="1353240"/>
            <a:ext cx="10332360" cy="44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Quản lý thời gian sử dụng máy tính mà không cần phụ huynh luôn ở cạnh.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Hạn chế ứng dụng và website không phù hợp theo chính sách gia đình.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Duy trì chức năng cốt lõi khi mạng hoặc máy chủ bị gián đoạn.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Giải thích rõ cho trẻ vì sao một hành động bị chặn.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Chỉ thu thập metadata cần thiết; không đọc nội dung riêng tư.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6"/>
          <p:cNvSpPr/>
          <p:nvPr/>
        </p:nvSpPr>
        <p:spPr>
          <a:xfrm>
            <a:off x="914400" y="5440680"/>
            <a:ext cx="10332360" cy="5025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1097280" y="5559480"/>
            <a:ext cx="9966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Công cụ đồng hành — không phải phần mềm theo dõi lén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Mở đầu   ·   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Lộ trình phát triển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MỞ ĐẦU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8" name="Table 4"/>
          <p:cNvGraphicFramePr/>
          <p:nvPr/>
        </p:nvGraphicFramePr>
        <p:xfrm>
          <a:off x="594360" y="1097280"/>
          <a:ext cx="10972800" cy="5074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484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Tuần 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Tuần 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Tuần 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Kiến trúc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Quota và lịch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DNS và SafeSearch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Mô hình dữ liệu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Monotonic clock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Chặn ứng dụng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Enrollment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Đồng bộ policy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Event và báo cáo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Heartbeat &amp; Dashboard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Khóa máy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Giao diện cho trẻ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TextBox 5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Mở đầu   ·   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137160" y="137160"/>
            <a:ext cx="11917080" cy="6583320"/>
          </a:xfrm>
          <a:prstGeom prst="rect">
            <a:avLst/>
          </a:prstGeom>
          <a:solidFill>
            <a:srgbClr val="0A1222"/>
          </a:solidFill>
          <a:ln>
            <a:solidFill>
              <a:srgbClr val="0A122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822960" y="10515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822960" y="1828800"/>
            <a:ext cx="987516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Xây dựng nền tảng hệ thống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841320" y="336492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Kiến trúc · Dữ liệu · Enrollment · Heartbeat · Dashboard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9326880" y="4480560"/>
            <a:ext cx="1828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58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04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Kiến trúc tổng thể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594360" y="1005840"/>
            <a:ext cx="10972440" cy="525744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5" descr="architecture.png"/>
          <p:cNvPicPr/>
          <p:nvPr/>
        </p:nvPicPr>
        <p:blipFill>
          <a:blip r:embed="rId2"/>
          <a:stretch/>
        </p:blipFill>
        <p:spPr>
          <a:xfrm>
            <a:off x="850320" y="2028600"/>
            <a:ext cx="10460520" cy="280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6"/>
          <p:cNvSpPr/>
          <p:nvPr/>
        </p:nvSpPr>
        <p:spPr>
          <a:xfrm>
            <a:off x="822960" y="57150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Agent Windows ↔ FastAPI Server ↔ Dashboard phụ huynh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Vai trò của từng thành phần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0" name="Table 4"/>
          <p:cNvGraphicFramePr/>
          <p:nvPr/>
        </p:nvGraphicFramePr>
        <p:xfrm>
          <a:off x="594360" y="1097280"/>
          <a:ext cx="10972800" cy="50727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46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Thành phần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Trách nhiệm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Agent Core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Quota, lịch, chặn ứng dụng và website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Tray UI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Trạng thái, cảnh báo, yêu cầu thêm giờ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Sync Worker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Heartbeat, policy, event và command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FastAPI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Xác thực, thiết bị, policy, audit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Dashboard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Giao diện quản lý của phụ huynh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SQLite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Cache cục bộ và dữ liệu server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1" name="TextBox 5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Cấu trúc mã nguồn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4"/>
          <p:cNvSpPr/>
          <p:nvPr/>
        </p:nvSpPr>
        <p:spPr>
          <a:xfrm>
            <a:off x="594360" y="1024200"/>
            <a:ext cx="5714640" cy="5211720"/>
          </a:xfrm>
          <a:prstGeom prst="roundRect">
            <a:avLst>
              <a:gd name="adj" fmla="val 16667"/>
            </a:avLst>
          </a:prstGeom>
          <a:solidFill>
            <a:srgbClr val="050B16"/>
          </a:solidFill>
          <a:ln>
            <a:solidFill>
              <a:srgbClr val="050B1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868680" y="1325880"/>
            <a:ext cx="5166000" cy="461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app/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├── agent/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│   ├── enforcer.py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│   ├── storage.py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│   ├── sync.py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│   ├── dns_proxy.py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│   └── tray/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├── server/app/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│   ├── routers/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│   ├── models.py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│   └── schemas.py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├── dashboard/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└── tests/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6"/>
          <p:cNvSpPr/>
          <p:nvPr/>
        </p:nvSpPr>
        <p:spPr>
          <a:xfrm>
            <a:off x="6537960" y="1024200"/>
            <a:ext cx="5028840" cy="521172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6858000" y="1371600"/>
            <a:ext cx="4434480" cy="452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Agent chịu trách nhiệm thực thi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Server quản lý và đồng bộ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Dashboard không điều khiển trực tiếp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Giao tiếp qua API rõ ràng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Mô hình dữ liệu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4"/>
          <p:cNvSpPr/>
          <p:nvPr/>
        </p:nvSpPr>
        <p:spPr>
          <a:xfrm>
            <a:off x="594360" y="1005840"/>
            <a:ext cx="10972440" cy="525744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5" descr="data_model.png"/>
          <p:cNvPicPr/>
          <p:nvPr/>
        </p:nvPicPr>
        <p:blipFill>
          <a:blip r:embed="rId2"/>
          <a:stretch/>
        </p:blipFill>
        <p:spPr>
          <a:xfrm>
            <a:off x="5937120" y="1335240"/>
            <a:ext cx="5058000" cy="460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6"/>
          <p:cNvSpPr/>
          <p:nvPr/>
        </p:nvSpPr>
        <p:spPr>
          <a:xfrm>
            <a:off x="822960" y="1600200"/>
            <a:ext cx="48920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10 thực thể chính; Policy được lưu theo phiên bản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Vì sao chọn SQLite và SQLAlchemy?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4"/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914400" y="1353240"/>
            <a:ext cx="10332360" cy="44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Cài nhanh, không cần database server riêng.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SQLite WAL phù hợp quy mô phòng lab.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SQLAlchemy tách mô hình dữ liệu khỏi SQL cụ thể.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Dễ tạo database tạm cho kiểm thử tự động.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Giới hạn: khi mở rộng nên chuyển PostgreSQL và migration chuẩn.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Luồng ghép đôi thiết bị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4"/>
          <p:cNvSpPr/>
          <p:nvPr/>
        </p:nvSpPr>
        <p:spPr>
          <a:xfrm>
            <a:off x="594360" y="1005840"/>
            <a:ext cx="10972440" cy="525744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Picture 5" descr="enrollment.png"/>
          <p:cNvPicPr/>
          <p:nvPr/>
        </p:nvPicPr>
        <p:blipFill>
          <a:blip r:embed="rId2"/>
          <a:stretch/>
        </p:blipFill>
        <p:spPr>
          <a:xfrm>
            <a:off x="4537440" y="1243440"/>
            <a:ext cx="3085920" cy="437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6"/>
          <p:cNvSpPr/>
          <p:nvPr/>
        </p:nvSpPr>
        <p:spPr>
          <a:xfrm>
            <a:off x="822960" y="57150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Mã 8 ký tự · hạn 10 phút · token được phát sau khi xác minh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Giao diện tạo mã ghép đôi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4"/>
          <p:cNvSpPr/>
          <p:nvPr/>
        </p:nvSpPr>
        <p:spPr>
          <a:xfrm>
            <a:off x="594360" y="1005840"/>
            <a:ext cx="10972440" cy="525744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5" descr="enroll.png"/>
          <p:cNvPicPr/>
          <p:nvPr/>
        </p:nvPicPr>
        <p:blipFill>
          <a:blip r:embed="rId2"/>
          <a:stretch/>
        </p:blipFill>
        <p:spPr>
          <a:xfrm>
            <a:off x="1874520" y="1243440"/>
            <a:ext cx="8411760" cy="437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6"/>
          <p:cNvSpPr/>
          <p:nvPr/>
        </p:nvSpPr>
        <p:spPr>
          <a:xfrm>
            <a:off x="822960" y="57150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Ảnh preview phiên bản cũ — cần chụp lại trước khi bảo vệ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Access token và refresh token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4"/>
          <p:cNvSpPr/>
          <p:nvPr/>
        </p:nvSpPr>
        <p:spPr>
          <a:xfrm>
            <a:off x="594360" y="1828800"/>
            <a:ext cx="263304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758880" y="2011680"/>
            <a:ext cx="2304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758880" y="2578680"/>
            <a:ext cx="2304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Enrollment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7"/>
          <p:cNvSpPr/>
          <p:nvPr/>
        </p:nvSpPr>
        <p:spPr>
          <a:xfrm>
            <a:off x="758880" y="3154680"/>
            <a:ext cx="23040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Mã ghép đôi hợp lệ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320040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9"/>
          <p:cNvSpPr/>
          <p:nvPr/>
        </p:nvSpPr>
        <p:spPr>
          <a:xfrm>
            <a:off x="3374280" y="1828800"/>
            <a:ext cx="263304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3538800" y="2011680"/>
            <a:ext cx="2304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3538800" y="2578680"/>
            <a:ext cx="2304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Access token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3538800" y="3154680"/>
            <a:ext cx="23040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Hiện tại: 10 phút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3"/>
          <p:cNvSpPr/>
          <p:nvPr/>
        </p:nvSpPr>
        <p:spPr>
          <a:xfrm>
            <a:off x="598032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4"/>
          <p:cNvSpPr/>
          <p:nvPr/>
        </p:nvSpPr>
        <p:spPr>
          <a:xfrm>
            <a:off x="6153840" y="1828800"/>
            <a:ext cx="263304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6318360" y="2011680"/>
            <a:ext cx="2304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6"/>
          <p:cNvSpPr/>
          <p:nvPr/>
        </p:nvSpPr>
        <p:spPr>
          <a:xfrm>
            <a:off x="6318360" y="2578680"/>
            <a:ext cx="2304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Refresh token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7"/>
          <p:cNvSpPr/>
          <p:nvPr/>
        </p:nvSpPr>
        <p:spPr>
          <a:xfrm>
            <a:off x="6318360" y="3154680"/>
            <a:ext cx="23040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Hiệu lực 30 ngày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8"/>
          <p:cNvSpPr/>
          <p:nvPr/>
        </p:nvSpPr>
        <p:spPr>
          <a:xfrm>
            <a:off x="87598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9"/>
          <p:cNvSpPr/>
          <p:nvPr/>
        </p:nvSpPr>
        <p:spPr>
          <a:xfrm>
            <a:off x="8933760" y="1828800"/>
            <a:ext cx="263304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0"/>
          <p:cNvSpPr/>
          <p:nvPr/>
        </p:nvSpPr>
        <p:spPr>
          <a:xfrm>
            <a:off x="9098280" y="2011680"/>
            <a:ext cx="2304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1"/>
          <p:cNvSpPr/>
          <p:nvPr/>
        </p:nvSpPr>
        <p:spPr>
          <a:xfrm>
            <a:off x="9098280" y="2578680"/>
            <a:ext cx="2304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Token hash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2"/>
          <p:cNvSpPr/>
          <p:nvPr/>
        </p:nvSpPr>
        <p:spPr>
          <a:xfrm>
            <a:off x="9098280" y="3154680"/>
            <a:ext cx="23040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Server chỉ lưu SHA-256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3"/>
          <p:cNvSpPr/>
          <p:nvPr/>
        </p:nvSpPr>
        <p:spPr>
          <a:xfrm>
            <a:off x="777240" y="48920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Token được gắn với device_id và bị thu hồi khi thiết bị không còn hoạt động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4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5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Cơ chế heartbeat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4"/>
          <p:cNvSpPr/>
          <p:nvPr/>
        </p:nvSpPr>
        <p:spPr>
          <a:xfrm>
            <a:off x="594360" y="1024200"/>
            <a:ext cx="5714640" cy="5211720"/>
          </a:xfrm>
          <a:prstGeom prst="roundRect">
            <a:avLst>
              <a:gd name="adj" fmla="val 16667"/>
            </a:avLst>
          </a:prstGeom>
          <a:solidFill>
            <a:srgbClr val="050B16"/>
          </a:solidFill>
          <a:ln>
            <a:solidFill>
              <a:srgbClr val="050B1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868680" y="1325880"/>
            <a:ext cx="5166000" cy="461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POST /heartbeat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{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"policy_version": 3,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"quota_used_seconds": 5400,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"queued_event_count": 2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}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Response: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{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"policy_changed": true,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"pending_commands": [],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"server_time": "...Z"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6"/>
          <p:cNvSpPr/>
          <p:nvPr/>
        </p:nvSpPr>
        <p:spPr>
          <a:xfrm>
            <a:off x="6537960" y="1024200"/>
            <a:ext cx="5028840" cy="521172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6858000" y="1371600"/>
            <a:ext cx="4434480" cy="452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Cập nhật last_seen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So sánh policy version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Đồng bộ thời gian UTC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Nhận command dự phòng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Theo dõi event queue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Trạng thái thiết bị trên Dashboard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TUẦN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4"/>
          <p:cNvSpPr/>
          <p:nvPr/>
        </p:nvSpPr>
        <p:spPr>
          <a:xfrm>
            <a:off x="594360" y="1005840"/>
            <a:ext cx="10972440" cy="525744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1" name="Picture 5" descr="overview-dashboard.png"/>
          <p:cNvPicPr/>
          <p:nvPr/>
        </p:nvPicPr>
        <p:blipFill>
          <a:blip r:embed="rId2"/>
          <a:stretch/>
        </p:blipFill>
        <p:spPr>
          <a:xfrm>
            <a:off x="1874520" y="1243440"/>
            <a:ext cx="8411760" cy="437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Box 6"/>
          <p:cNvSpPr/>
          <p:nvPr/>
        </p:nvSpPr>
        <p:spPr>
          <a:xfrm>
            <a:off x="822960" y="57150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Thiết bị online/offline · quota · policy version · điều khiển khẩn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1   ·   14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"/>
          <p:cNvSpPr/>
          <p:nvPr/>
        </p:nvSpPr>
        <p:spPr>
          <a:xfrm>
            <a:off x="137160" y="137160"/>
            <a:ext cx="11917080" cy="6583320"/>
          </a:xfrm>
          <a:prstGeom prst="rect">
            <a:avLst/>
          </a:prstGeom>
          <a:solidFill>
            <a:srgbClr val="0A1222"/>
          </a:solidFill>
          <a:ln>
            <a:solidFill>
              <a:srgbClr val="0A122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822960" y="10515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822960" y="1828800"/>
            <a:ext cx="987516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Quản lý thời gian và chính sách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841320" y="336492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Quota · Lịch 7×48 · Cảnh báo · Khóa máy · Policy sync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9326880" y="4480560"/>
            <a:ext cx="1828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58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15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BCF31-81FF-A213-6044-7A1C413A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Rectangle 1">
            <a:extLst>
              <a:ext uri="{FF2B5EF4-FFF2-40B4-BE49-F238E27FC236}">
                <a16:creationId xmlns:a16="http://schemas.microsoft.com/office/drawing/2014/main" id="{A9D71962-90F0-A936-80C0-D0926AEFC34A}"/>
              </a:ext>
            </a:extLst>
          </p:cNvPr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2">
            <a:extLst>
              <a:ext uri="{FF2B5EF4-FFF2-40B4-BE49-F238E27FC236}">
                <a16:creationId xmlns:a16="http://schemas.microsoft.com/office/drawing/2014/main" id="{9BC766CC-2848-197F-E994-B12BE6976BC5}"/>
              </a:ext>
            </a:extLst>
          </p:cNvPr>
          <p:cNvSpPr/>
          <p:nvPr/>
        </p:nvSpPr>
        <p:spPr>
          <a:xfrm>
            <a:off x="594360" y="311040"/>
            <a:ext cx="1069812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Cơ</a:t>
            </a:r>
            <a:r>
              <a:rPr lang="en-US" sz="2500" b="1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chế</a:t>
            </a:r>
            <a:r>
              <a:rPr lang="en-US" sz="2500" b="1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tính</a:t>
            </a:r>
            <a:r>
              <a:rPr lang="en-US" sz="2500" b="1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thời</a:t>
            </a:r>
            <a:r>
              <a:rPr lang="en-US" sz="2500" b="1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gian</a:t>
            </a:r>
            <a:r>
              <a:rPr lang="en-US" sz="2500" b="1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của</a:t>
            </a:r>
            <a:r>
              <a:rPr lang="en-US" sz="2500" b="1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trẻ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3">
            <a:extLst>
              <a:ext uri="{FF2B5EF4-FFF2-40B4-BE49-F238E27FC236}">
                <a16:creationId xmlns:a16="http://schemas.microsoft.com/office/drawing/2014/main" id="{DBF81511-6ABB-D75E-8360-CABC02539D5E}"/>
              </a:ext>
            </a:extLst>
          </p:cNvPr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4">
            <a:extLst>
              <a:ext uri="{FF2B5EF4-FFF2-40B4-BE49-F238E27FC236}">
                <a16:creationId xmlns:a16="http://schemas.microsoft.com/office/drawing/2014/main" id="{BB142873-6E87-0B80-4D6F-60511F36DE16}"/>
              </a:ext>
            </a:extLst>
          </p:cNvPr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5">
            <a:extLst>
              <a:ext uri="{FF2B5EF4-FFF2-40B4-BE49-F238E27FC236}">
                <a16:creationId xmlns:a16="http://schemas.microsoft.com/office/drawing/2014/main" id="{D10D0F86-1984-A2B4-012E-E1EE0B673AEB}"/>
              </a:ext>
            </a:extLst>
          </p:cNvPr>
          <p:cNvSpPr/>
          <p:nvPr/>
        </p:nvSpPr>
        <p:spPr>
          <a:xfrm>
            <a:off x="914400" y="1353240"/>
            <a:ext cx="10332360" cy="48614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Cơ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chế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dự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án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lấy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Agent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làm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nơi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đếm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thời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gian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Enforcer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chạy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chu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kỳ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khoảng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2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giây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đo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thời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gian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trôi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qua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bằng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time.monotonic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(),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nên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việc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chỉnh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lùi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đồng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hồ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Windows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không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làm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giảm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số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giờ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đã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dùng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lvl="0"/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/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Chỉ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cộng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thời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gian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Màn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hình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Windows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không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bị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khóa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;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Trẻ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không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ở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trạng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thái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idle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quá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5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phút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;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Trẻ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vẫn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còn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quota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đang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trong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khung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giờ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được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phép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lvl="1"/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/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Phần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lẻ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dưới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một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giây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được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giữ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lại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sau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đó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cộng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số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giây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nguyên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vào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SQLite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cục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bộ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 Sai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số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kiểm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thử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kỳ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vọng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khoảng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dưới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1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giây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giờ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lvl="0"/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/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Bộ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đếm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nằm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trong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agent_state.quota_used_seconds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tự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đặt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lại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sang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ngày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mới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Khi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đạt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quota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hoặc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ra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ngoài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lịch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, Agent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khóa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máy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ngừng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cộng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thời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gian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Nếu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mất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mạng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Heartbeat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được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thử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lại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mỗi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30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giây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. Khi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có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mạng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, Agent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gửi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tổng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quota_used_seconds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hiện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tại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cho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Server</a:t>
            </a:r>
            <a:endParaRPr lang="en-US" sz="2000" b="0" u="none" strike="noStrike" dirty="0">
              <a:solidFill>
                <a:schemeClr val="bg1"/>
              </a:solidFill>
              <a:effectLst/>
              <a:uFillTx/>
              <a:latin typeface="Aptos" panose="020B0004020202020204" pitchFamily="34" charset="0"/>
            </a:endParaRPr>
          </a:p>
        </p:txBody>
      </p:sp>
      <p:sp>
        <p:nvSpPr>
          <p:cNvPr id="398" name="TextBox 6">
            <a:extLst>
              <a:ext uri="{FF2B5EF4-FFF2-40B4-BE49-F238E27FC236}">
                <a16:creationId xmlns:a16="http://schemas.microsoft.com/office/drawing/2014/main" id="{BBEC632A-71FB-EE15-2AE7-2AE911C29E24}"/>
              </a:ext>
            </a:extLst>
          </p:cNvPr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7">
            <a:extLst>
              <a:ext uri="{FF2B5EF4-FFF2-40B4-BE49-F238E27FC236}">
                <a16:creationId xmlns:a16="http://schemas.microsoft.com/office/drawing/2014/main" id="{B49B7797-99F6-1531-1C61-0A2040C224A6}"/>
              </a:ext>
            </a:extLst>
          </p:cNvPr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29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5567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Cấu trúc một policy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4"/>
          <p:cNvSpPr/>
          <p:nvPr/>
        </p:nvSpPr>
        <p:spPr>
          <a:xfrm>
            <a:off x="594360" y="1024200"/>
            <a:ext cx="5714640" cy="5211720"/>
          </a:xfrm>
          <a:prstGeom prst="roundRect">
            <a:avLst>
              <a:gd name="adj" fmla="val 16667"/>
            </a:avLst>
          </a:prstGeom>
          <a:solidFill>
            <a:srgbClr val="050B16"/>
          </a:solidFill>
          <a:ln>
            <a:solidFill>
              <a:srgbClr val="050B1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5"/>
          <p:cNvSpPr/>
          <p:nvPr/>
        </p:nvSpPr>
        <p:spPr>
          <a:xfrm>
            <a:off x="868680" y="1325880"/>
            <a:ext cx="5166000" cy="461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{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"version": 15,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"quota": {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  "daily_minutes": 90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},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"schedule": {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  "matrix": "7 x 48"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},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"app_rules": {...},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"domain_rules": {...}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6"/>
          <p:cNvSpPr/>
          <p:nvPr/>
        </p:nvSpPr>
        <p:spPr>
          <a:xfrm>
            <a:off x="6537960" y="1024200"/>
            <a:ext cx="5028840" cy="521172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7"/>
          <p:cNvSpPr/>
          <p:nvPr/>
        </p:nvSpPr>
        <p:spPr>
          <a:xfrm>
            <a:off x="6858000" y="1371600"/>
            <a:ext cx="4434480" cy="452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Version tăng dần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Agent cache trong SQLite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Áp dụng được khi offline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Chưa có HMAC/chữ ký toàn vẹn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Thuật toán quota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4"/>
          <p:cNvSpPr/>
          <p:nvPr/>
        </p:nvSpPr>
        <p:spPr>
          <a:xfrm>
            <a:off x="594360" y="1024200"/>
            <a:ext cx="5714640" cy="5211720"/>
          </a:xfrm>
          <a:prstGeom prst="roundRect">
            <a:avLst>
              <a:gd name="adj" fmla="val 16667"/>
            </a:avLst>
          </a:prstGeom>
          <a:solidFill>
            <a:srgbClr val="050B16"/>
          </a:solidFill>
          <a:ln>
            <a:solidFill>
              <a:srgbClr val="050B1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868680" y="1325880"/>
            <a:ext cx="5166000" cy="461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Mỗi tick: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now = monotonic()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delta = now - previous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nếu không khóa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và idle ≤ 5 phút: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    quota += delta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nếu quota hết: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    cảnh báo / ân hạn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    khóa sau 60 giây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6"/>
          <p:cNvSpPr/>
          <p:nvPr/>
        </p:nvSpPr>
        <p:spPr>
          <a:xfrm>
            <a:off x="6537960" y="1024200"/>
            <a:ext cx="5028840" cy="521172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6858000" y="1371600"/>
            <a:ext cx="4434480" cy="452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Chỉ tính thời gian sử dụng thực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Lưu số giây trong SQLite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Không reset khi Agent restart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Cần bổ sung quota riêng ngày thường/cuối tuần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17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Vì sao dùng monotonic clock?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4" name="Table 4"/>
          <p:cNvGraphicFramePr/>
          <p:nvPr/>
        </p:nvGraphicFramePr>
        <p:xfrm>
          <a:off x="594360" y="1097280"/>
          <a:ext cx="10972800" cy="5074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864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Nguồn thời gian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Vai trò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Rủi ro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time.time()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Thời gian hệ thống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Có thể bị chỉnh lùi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time.monotonic()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Đo khoảng thời gian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Chỉ tăng trong một phiên chạy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Server timestamp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Xác định UTC/ngày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Phụ thuộc lần đồng bộ gần nhất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5" name="TextBox 5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6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Phát hiện idle và màn hình khóa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4"/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5"/>
          <p:cNvSpPr/>
          <p:nvPr/>
        </p:nvSpPr>
        <p:spPr>
          <a:xfrm>
            <a:off x="914400" y="1353240"/>
            <a:ext cx="10332360" cy="44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GetLastInputInfo tính thời gian không có thao tác bàn phím/chuột.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Không cộng quota khi idle quá 300 giây.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Phát hiện lock screen bằng trạng thái desktop Windows.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Tray UI vẫn hiển thị trạng thái trong phiên người dùng.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Các API Windows cần được nghiệm thu trên máy thật.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6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7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19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Lịch tuần 7×48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7" name="Table 4"/>
          <p:cNvGraphicFramePr/>
          <p:nvPr/>
        </p:nvGraphicFramePr>
        <p:xfrm>
          <a:off x="594360" y="1097280"/>
          <a:ext cx="10972800" cy="5073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64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Thành phần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Ý nghĩa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7 hàng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Thứ Hai đến Chủ Nhật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48 cột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Mỗi ô tương ứng 30 phút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Giá trị 1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Được phép sử dụng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Giá trị 0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Ngoài khung giờ cho phép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Tiêu chí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Khóa trong 5 giây khi ngoài lịch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8" name="TextBox 5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20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Cảnh báo và thời gian ân hạn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4"/>
          <p:cNvSpPr/>
          <p:nvPr/>
        </p:nvSpPr>
        <p:spPr>
          <a:xfrm>
            <a:off x="5943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5"/>
          <p:cNvSpPr/>
          <p:nvPr/>
        </p:nvSpPr>
        <p:spPr>
          <a:xfrm>
            <a:off x="7588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6"/>
          <p:cNvSpPr/>
          <p:nvPr/>
        </p:nvSpPr>
        <p:spPr>
          <a:xfrm>
            <a:off x="7588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10 phút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7"/>
          <p:cNvSpPr/>
          <p:nvPr/>
        </p:nvSpPr>
        <p:spPr>
          <a:xfrm>
            <a:off x="7588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Cảnh báo lần 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264456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9"/>
          <p:cNvSpPr/>
          <p:nvPr/>
        </p:nvSpPr>
        <p:spPr>
          <a:xfrm>
            <a:off x="28180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0"/>
          <p:cNvSpPr/>
          <p:nvPr/>
        </p:nvSpPr>
        <p:spPr>
          <a:xfrm>
            <a:off x="29826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29826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5 phút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2"/>
          <p:cNvSpPr/>
          <p:nvPr/>
        </p:nvSpPr>
        <p:spPr>
          <a:xfrm>
            <a:off x="29826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Cảnh báo lần 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3"/>
          <p:cNvSpPr/>
          <p:nvPr/>
        </p:nvSpPr>
        <p:spPr>
          <a:xfrm>
            <a:off x="48682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14"/>
          <p:cNvSpPr/>
          <p:nvPr/>
        </p:nvSpPr>
        <p:spPr>
          <a:xfrm>
            <a:off x="50421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15"/>
          <p:cNvSpPr/>
          <p:nvPr/>
        </p:nvSpPr>
        <p:spPr>
          <a:xfrm>
            <a:off x="52066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6"/>
          <p:cNvSpPr/>
          <p:nvPr/>
        </p:nvSpPr>
        <p:spPr>
          <a:xfrm>
            <a:off x="52066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1 phút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7"/>
          <p:cNvSpPr/>
          <p:nvPr/>
        </p:nvSpPr>
        <p:spPr>
          <a:xfrm>
            <a:off x="52066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Cảnh báo khẩn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8"/>
          <p:cNvSpPr/>
          <p:nvPr/>
        </p:nvSpPr>
        <p:spPr>
          <a:xfrm>
            <a:off x="709200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19"/>
          <p:cNvSpPr/>
          <p:nvPr/>
        </p:nvSpPr>
        <p:spPr>
          <a:xfrm>
            <a:off x="72658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0"/>
          <p:cNvSpPr/>
          <p:nvPr/>
        </p:nvSpPr>
        <p:spPr>
          <a:xfrm>
            <a:off x="74304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1"/>
          <p:cNvSpPr/>
          <p:nvPr/>
        </p:nvSpPr>
        <p:spPr>
          <a:xfrm>
            <a:off x="74304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Hết giờ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2"/>
          <p:cNvSpPr/>
          <p:nvPr/>
        </p:nvSpPr>
        <p:spPr>
          <a:xfrm>
            <a:off x="74304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Ân hạn 60 giây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23"/>
          <p:cNvSpPr/>
          <p:nvPr/>
        </p:nvSpPr>
        <p:spPr>
          <a:xfrm>
            <a:off x="93160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24"/>
          <p:cNvSpPr/>
          <p:nvPr/>
        </p:nvSpPr>
        <p:spPr>
          <a:xfrm>
            <a:off x="948960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25"/>
          <p:cNvSpPr/>
          <p:nvPr/>
        </p:nvSpPr>
        <p:spPr>
          <a:xfrm>
            <a:off x="965412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6"/>
          <p:cNvSpPr/>
          <p:nvPr/>
        </p:nvSpPr>
        <p:spPr>
          <a:xfrm>
            <a:off x="965412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Khóa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27"/>
          <p:cNvSpPr/>
          <p:nvPr/>
        </p:nvSpPr>
        <p:spPr>
          <a:xfrm>
            <a:off x="965412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Ghi event locked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28"/>
          <p:cNvSpPr/>
          <p:nvPr/>
        </p:nvSpPr>
        <p:spPr>
          <a:xfrm>
            <a:off x="777240" y="48920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Không khóa đột ngột — trẻ có thời gian lưu bài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29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30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21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Giao diện cấu hình chính sách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4"/>
          <p:cNvSpPr/>
          <p:nvPr/>
        </p:nvSpPr>
        <p:spPr>
          <a:xfrm>
            <a:off x="594360" y="1005840"/>
            <a:ext cx="10972440" cy="525744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4" name="Picture 5" descr="policy.png"/>
          <p:cNvPicPr/>
          <p:nvPr/>
        </p:nvPicPr>
        <p:blipFill>
          <a:blip r:embed="rId2"/>
          <a:stretch/>
        </p:blipFill>
        <p:spPr>
          <a:xfrm>
            <a:off x="1874520" y="1243440"/>
            <a:ext cx="8411760" cy="437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Box 6"/>
          <p:cNvSpPr/>
          <p:nvPr/>
        </p:nvSpPr>
        <p:spPr>
          <a:xfrm>
            <a:off x="822960" y="57150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Ảnh preview: quota · khung giờ · blacklist ứng dụng · blacklist tên miền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22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Luồng đồng bộ policy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4"/>
          <p:cNvSpPr/>
          <p:nvPr/>
        </p:nvSpPr>
        <p:spPr>
          <a:xfrm>
            <a:off x="5943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5"/>
          <p:cNvSpPr/>
          <p:nvPr/>
        </p:nvSpPr>
        <p:spPr>
          <a:xfrm>
            <a:off x="7588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6"/>
          <p:cNvSpPr/>
          <p:nvPr/>
        </p:nvSpPr>
        <p:spPr>
          <a:xfrm>
            <a:off x="7588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Phụ huynh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7"/>
          <p:cNvSpPr/>
          <p:nvPr/>
        </p:nvSpPr>
        <p:spPr>
          <a:xfrm>
            <a:off x="7588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Lưu chính sách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8"/>
          <p:cNvSpPr/>
          <p:nvPr/>
        </p:nvSpPr>
        <p:spPr>
          <a:xfrm>
            <a:off x="264456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9"/>
          <p:cNvSpPr/>
          <p:nvPr/>
        </p:nvSpPr>
        <p:spPr>
          <a:xfrm>
            <a:off x="28180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10"/>
          <p:cNvSpPr/>
          <p:nvPr/>
        </p:nvSpPr>
        <p:spPr>
          <a:xfrm>
            <a:off x="29826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1"/>
          <p:cNvSpPr/>
          <p:nvPr/>
        </p:nvSpPr>
        <p:spPr>
          <a:xfrm>
            <a:off x="29826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Server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2"/>
          <p:cNvSpPr/>
          <p:nvPr/>
        </p:nvSpPr>
        <p:spPr>
          <a:xfrm>
            <a:off x="29826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Tạo version mới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3"/>
          <p:cNvSpPr/>
          <p:nvPr/>
        </p:nvSpPr>
        <p:spPr>
          <a:xfrm>
            <a:off x="48682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14"/>
          <p:cNvSpPr/>
          <p:nvPr/>
        </p:nvSpPr>
        <p:spPr>
          <a:xfrm>
            <a:off x="50421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15"/>
          <p:cNvSpPr/>
          <p:nvPr/>
        </p:nvSpPr>
        <p:spPr>
          <a:xfrm>
            <a:off x="52066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6"/>
          <p:cNvSpPr/>
          <p:nvPr/>
        </p:nvSpPr>
        <p:spPr>
          <a:xfrm>
            <a:off x="52066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Heartbeat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7"/>
          <p:cNvSpPr/>
          <p:nvPr/>
        </p:nvSpPr>
        <p:spPr>
          <a:xfrm>
            <a:off x="52066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policy_changed=true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8"/>
          <p:cNvSpPr/>
          <p:nvPr/>
        </p:nvSpPr>
        <p:spPr>
          <a:xfrm>
            <a:off x="709200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19"/>
          <p:cNvSpPr/>
          <p:nvPr/>
        </p:nvSpPr>
        <p:spPr>
          <a:xfrm>
            <a:off x="72658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20"/>
          <p:cNvSpPr/>
          <p:nvPr/>
        </p:nvSpPr>
        <p:spPr>
          <a:xfrm>
            <a:off x="74304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1"/>
          <p:cNvSpPr/>
          <p:nvPr/>
        </p:nvSpPr>
        <p:spPr>
          <a:xfrm>
            <a:off x="74304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Agent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22"/>
          <p:cNvSpPr/>
          <p:nvPr/>
        </p:nvSpPr>
        <p:spPr>
          <a:xfrm>
            <a:off x="74304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GET /policy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3"/>
          <p:cNvSpPr/>
          <p:nvPr/>
        </p:nvSpPr>
        <p:spPr>
          <a:xfrm>
            <a:off x="93160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24"/>
          <p:cNvSpPr/>
          <p:nvPr/>
        </p:nvSpPr>
        <p:spPr>
          <a:xfrm>
            <a:off x="948960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25"/>
          <p:cNvSpPr/>
          <p:nvPr/>
        </p:nvSpPr>
        <p:spPr>
          <a:xfrm>
            <a:off x="965412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6"/>
          <p:cNvSpPr/>
          <p:nvPr/>
        </p:nvSpPr>
        <p:spPr>
          <a:xfrm>
            <a:off x="965412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Enforcer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27"/>
          <p:cNvSpPr/>
          <p:nvPr/>
        </p:nvSpPr>
        <p:spPr>
          <a:xfrm>
            <a:off x="965412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Cache và áp dụng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8"/>
          <p:cNvSpPr/>
          <p:nvPr/>
        </p:nvSpPr>
        <p:spPr>
          <a:xfrm>
            <a:off x="777240" y="48920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Mục tiêu đề bài: chính sách có hiệu lực trong vòng 60 giây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29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30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Command thời gian thực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4"/>
          <p:cNvSpPr/>
          <p:nvPr/>
        </p:nvSpPr>
        <p:spPr>
          <a:xfrm>
            <a:off x="5943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5"/>
          <p:cNvSpPr/>
          <p:nvPr/>
        </p:nvSpPr>
        <p:spPr>
          <a:xfrm>
            <a:off x="7588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6"/>
          <p:cNvSpPr/>
          <p:nvPr/>
        </p:nvSpPr>
        <p:spPr>
          <a:xfrm>
            <a:off x="7588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Dashboard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7"/>
          <p:cNvSpPr/>
          <p:nvPr/>
        </p:nvSpPr>
        <p:spPr>
          <a:xfrm>
            <a:off x="7588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lock / unlock / grant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8"/>
          <p:cNvSpPr/>
          <p:nvPr/>
        </p:nvSpPr>
        <p:spPr>
          <a:xfrm>
            <a:off x="264456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9"/>
          <p:cNvSpPr/>
          <p:nvPr/>
        </p:nvSpPr>
        <p:spPr>
          <a:xfrm>
            <a:off x="28180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10"/>
          <p:cNvSpPr/>
          <p:nvPr/>
        </p:nvSpPr>
        <p:spPr>
          <a:xfrm>
            <a:off x="29826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1"/>
          <p:cNvSpPr/>
          <p:nvPr/>
        </p:nvSpPr>
        <p:spPr>
          <a:xfrm>
            <a:off x="29826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Server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2"/>
          <p:cNvSpPr/>
          <p:nvPr/>
        </p:nvSpPr>
        <p:spPr>
          <a:xfrm>
            <a:off x="29826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Lưu Command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13"/>
          <p:cNvSpPr/>
          <p:nvPr/>
        </p:nvSpPr>
        <p:spPr>
          <a:xfrm>
            <a:off x="48682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ounded Rectangle 14"/>
          <p:cNvSpPr/>
          <p:nvPr/>
        </p:nvSpPr>
        <p:spPr>
          <a:xfrm>
            <a:off x="50421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15"/>
          <p:cNvSpPr/>
          <p:nvPr/>
        </p:nvSpPr>
        <p:spPr>
          <a:xfrm>
            <a:off x="52066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6"/>
          <p:cNvSpPr/>
          <p:nvPr/>
        </p:nvSpPr>
        <p:spPr>
          <a:xfrm>
            <a:off x="52066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WebSocket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17"/>
          <p:cNvSpPr/>
          <p:nvPr/>
        </p:nvSpPr>
        <p:spPr>
          <a:xfrm>
            <a:off x="52066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Đẩy tức thời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8"/>
          <p:cNvSpPr/>
          <p:nvPr/>
        </p:nvSpPr>
        <p:spPr>
          <a:xfrm>
            <a:off x="709200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Rounded Rectangle 19"/>
          <p:cNvSpPr/>
          <p:nvPr/>
        </p:nvSpPr>
        <p:spPr>
          <a:xfrm>
            <a:off x="72658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20"/>
          <p:cNvSpPr/>
          <p:nvPr/>
        </p:nvSpPr>
        <p:spPr>
          <a:xfrm>
            <a:off x="74304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21"/>
          <p:cNvSpPr/>
          <p:nvPr/>
        </p:nvSpPr>
        <p:spPr>
          <a:xfrm>
            <a:off x="74304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Agent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2"/>
          <p:cNvSpPr/>
          <p:nvPr/>
        </p:nvSpPr>
        <p:spPr>
          <a:xfrm>
            <a:off x="74304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Thực thi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3"/>
          <p:cNvSpPr/>
          <p:nvPr/>
        </p:nvSpPr>
        <p:spPr>
          <a:xfrm>
            <a:off x="93160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24"/>
          <p:cNvSpPr/>
          <p:nvPr/>
        </p:nvSpPr>
        <p:spPr>
          <a:xfrm>
            <a:off x="948960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25"/>
          <p:cNvSpPr/>
          <p:nvPr/>
        </p:nvSpPr>
        <p:spPr>
          <a:xfrm>
            <a:off x="965412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26"/>
          <p:cNvSpPr/>
          <p:nvPr/>
        </p:nvSpPr>
        <p:spPr>
          <a:xfrm>
            <a:off x="965412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ACK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7"/>
          <p:cNvSpPr/>
          <p:nvPr/>
        </p:nvSpPr>
        <p:spPr>
          <a:xfrm>
            <a:off x="965412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Xác nhận kết quả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28"/>
          <p:cNvSpPr/>
          <p:nvPr/>
        </p:nvSpPr>
        <p:spPr>
          <a:xfrm>
            <a:off x="777240" y="48920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Heartbeat là kênh dự phòng khi WebSocket gián đoạn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29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30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24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Demo khóa máy đúng hạn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Aptos"/>
              </a:rPr>
              <a:t>TUẦN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4"/>
          <p:cNvSpPr/>
          <p:nvPr/>
        </p:nvSpPr>
        <p:spPr>
          <a:xfrm>
            <a:off x="594360" y="1005840"/>
            <a:ext cx="10972440" cy="525744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42" name="Picture 5" descr="test-lock.png"/>
          <p:cNvPicPr/>
          <p:nvPr/>
        </p:nvPicPr>
        <p:blipFill>
          <a:blip r:embed="rId2"/>
          <a:stretch/>
        </p:blipFill>
        <p:spPr>
          <a:xfrm>
            <a:off x="2187360" y="1243440"/>
            <a:ext cx="7786440" cy="437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Box 6"/>
          <p:cNvSpPr/>
          <p:nvPr/>
        </p:nvSpPr>
        <p:spPr>
          <a:xfrm>
            <a:off x="822960" y="57150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Preview thử nghiệm Dashboard phát lệnh và máy Windows chuyển sang lock screen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2   ·   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2"/>
          <p:cNvSpPr/>
          <p:nvPr/>
        </p:nvSpPr>
        <p:spPr>
          <a:xfrm>
            <a:off x="137160" y="137160"/>
            <a:ext cx="11917080" cy="6583320"/>
          </a:xfrm>
          <a:prstGeom prst="rect">
            <a:avLst/>
          </a:prstGeom>
          <a:solidFill>
            <a:srgbClr val="0A1222"/>
          </a:solidFill>
          <a:ln>
            <a:solidFill>
              <a:srgbClr val="0A122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3"/>
          <p:cNvSpPr/>
          <p:nvPr/>
        </p:nvSpPr>
        <p:spPr>
          <a:xfrm>
            <a:off x="822960" y="10515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4"/>
          <p:cNvSpPr/>
          <p:nvPr/>
        </p:nvSpPr>
        <p:spPr>
          <a:xfrm>
            <a:off x="822960" y="1828800"/>
            <a:ext cx="987516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Kiểm soát nội dung và báo cáo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5"/>
          <p:cNvSpPr/>
          <p:nvPr/>
        </p:nvSpPr>
        <p:spPr>
          <a:xfrm>
            <a:off x="841320" y="336492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DNS Proxy · SafeSearch · App Control · Event · Báo cáo · Minh bạch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6"/>
          <p:cNvSpPr/>
          <p:nvPr/>
        </p:nvSpPr>
        <p:spPr>
          <a:xfrm>
            <a:off x="9326880" y="4480560"/>
            <a:ext cx="1828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58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26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Kiến trúc lọc website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4"/>
          <p:cNvSpPr/>
          <p:nvPr/>
        </p:nvSpPr>
        <p:spPr>
          <a:xfrm>
            <a:off x="5943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5"/>
          <p:cNvSpPr/>
          <p:nvPr/>
        </p:nvSpPr>
        <p:spPr>
          <a:xfrm>
            <a:off x="7588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6"/>
          <p:cNvSpPr/>
          <p:nvPr/>
        </p:nvSpPr>
        <p:spPr>
          <a:xfrm>
            <a:off x="7588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Trình duyệt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7"/>
          <p:cNvSpPr/>
          <p:nvPr/>
        </p:nvSpPr>
        <p:spPr>
          <a:xfrm>
            <a:off x="7588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Phát DNS query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8"/>
          <p:cNvSpPr/>
          <p:nvPr/>
        </p:nvSpPr>
        <p:spPr>
          <a:xfrm>
            <a:off x="264456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9"/>
          <p:cNvSpPr/>
          <p:nvPr/>
        </p:nvSpPr>
        <p:spPr>
          <a:xfrm>
            <a:off x="28180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10"/>
          <p:cNvSpPr/>
          <p:nvPr/>
        </p:nvSpPr>
        <p:spPr>
          <a:xfrm>
            <a:off x="29826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11"/>
          <p:cNvSpPr/>
          <p:nvPr/>
        </p:nvSpPr>
        <p:spPr>
          <a:xfrm>
            <a:off x="29826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Windows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2"/>
          <p:cNvSpPr/>
          <p:nvPr/>
        </p:nvSpPr>
        <p:spPr>
          <a:xfrm>
            <a:off x="29826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Stub resolver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3"/>
          <p:cNvSpPr/>
          <p:nvPr/>
        </p:nvSpPr>
        <p:spPr>
          <a:xfrm>
            <a:off x="48682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14"/>
          <p:cNvSpPr/>
          <p:nvPr/>
        </p:nvSpPr>
        <p:spPr>
          <a:xfrm>
            <a:off x="50421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5"/>
          <p:cNvSpPr/>
          <p:nvPr/>
        </p:nvSpPr>
        <p:spPr>
          <a:xfrm>
            <a:off x="52066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6"/>
          <p:cNvSpPr/>
          <p:nvPr/>
        </p:nvSpPr>
        <p:spPr>
          <a:xfrm>
            <a:off x="52066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DNS Proxy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7"/>
          <p:cNvSpPr/>
          <p:nvPr/>
        </p:nvSpPr>
        <p:spPr>
          <a:xfrm>
            <a:off x="52066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127.0.0.1:53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18"/>
          <p:cNvSpPr/>
          <p:nvPr/>
        </p:nvSpPr>
        <p:spPr>
          <a:xfrm>
            <a:off x="709200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ounded Rectangle 19"/>
          <p:cNvSpPr/>
          <p:nvPr/>
        </p:nvSpPr>
        <p:spPr>
          <a:xfrm>
            <a:off x="72658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20"/>
          <p:cNvSpPr/>
          <p:nvPr/>
        </p:nvSpPr>
        <p:spPr>
          <a:xfrm>
            <a:off x="74304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1"/>
          <p:cNvSpPr/>
          <p:nvPr/>
        </p:nvSpPr>
        <p:spPr>
          <a:xfrm>
            <a:off x="74304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Policy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2"/>
          <p:cNvSpPr/>
          <p:nvPr/>
        </p:nvSpPr>
        <p:spPr>
          <a:xfrm>
            <a:off x="74304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Bypass / block / SafeSearch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23"/>
          <p:cNvSpPr/>
          <p:nvPr/>
        </p:nvSpPr>
        <p:spPr>
          <a:xfrm>
            <a:off x="93160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24"/>
          <p:cNvSpPr/>
          <p:nvPr/>
        </p:nvSpPr>
        <p:spPr>
          <a:xfrm>
            <a:off x="948960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25"/>
          <p:cNvSpPr/>
          <p:nvPr/>
        </p:nvSpPr>
        <p:spPr>
          <a:xfrm>
            <a:off x="965412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26"/>
          <p:cNvSpPr/>
          <p:nvPr/>
        </p:nvSpPr>
        <p:spPr>
          <a:xfrm>
            <a:off x="965412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Phản hồi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7"/>
          <p:cNvSpPr/>
          <p:nvPr/>
        </p:nvSpPr>
        <p:spPr>
          <a:xfrm>
            <a:off x="965412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Upstream hoặc chặn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28"/>
          <p:cNvSpPr/>
          <p:nvPr/>
        </p:nvSpPr>
        <p:spPr>
          <a:xfrm>
            <a:off x="777240" y="48920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Mỗi quyết định chặn tạo event và thông báo có lý do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9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30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27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Chuẩn hóa tên miền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Rounded Rectangle 4"/>
          <p:cNvSpPr/>
          <p:nvPr/>
        </p:nvSpPr>
        <p:spPr>
          <a:xfrm>
            <a:off x="594360" y="1024200"/>
            <a:ext cx="5714640" cy="5211720"/>
          </a:xfrm>
          <a:prstGeom prst="roundRect">
            <a:avLst>
              <a:gd name="adj" fmla="val 16667"/>
            </a:avLst>
          </a:prstGeom>
          <a:solidFill>
            <a:srgbClr val="050B16"/>
          </a:solidFill>
          <a:ln>
            <a:solidFill>
              <a:srgbClr val="050B1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5"/>
          <p:cNvSpPr/>
          <p:nvPr/>
        </p:nvSpPr>
        <p:spPr>
          <a:xfrm>
            <a:off x="868680" y="1325880"/>
            <a:ext cx="5166000" cy="461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Đầu vào: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https://www.news.example.co.uk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:8443/path?q=abc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Chuẩn hóa: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example.co.uk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Loại bỏ: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- scheme / port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- path / query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- fragment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Rounded Rectangle 6"/>
          <p:cNvSpPr/>
          <p:nvPr/>
        </p:nvSpPr>
        <p:spPr>
          <a:xfrm>
            <a:off x="6537960" y="1024200"/>
            <a:ext cx="5028840" cy="521172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7"/>
          <p:cNvSpPr/>
          <p:nvPr/>
        </p:nvSpPr>
        <p:spPr>
          <a:xfrm>
            <a:off x="6858000" y="1371600"/>
            <a:ext cx="4434480" cy="452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• 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Dùng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Public Suffix List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• 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Chỉ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lưu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eTLD+1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• 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Không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lưu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URL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đầy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đủ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• 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Giảm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dữ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liệu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riêng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tư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28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SafeSearch và danh sách bypass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4"/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5"/>
          <p:cNvSpPr/>
          <p:nvPr/>
        </p:nvSpPr>
        <p:spPr>
          <a:xfrm>
            <a:off x="914400" y="1353240"/>
            <a:ext cx="10332360" cy="44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Ép SafeSearch cho Google Search và Bing Search.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Bật chế độ hạn chế phù hợp cho YouTube.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Bypass cố định cho hạ tầng hệ thống và cổng giáo dục cần thiết.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Không cho policy tự chặn dịch vụ khẩn cấp và bảo vệ trẻ em.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Kiểm chứng bằng nslookup và trình duyệt trên Windows.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6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7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29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Giới hạn của DNS filtering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4"/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5"/>
          <p:cNvSpPr/>
          <p:nvPr/>
        </p:nvSpPr>
        <p:spPr>
          <a:xfrm>
            <a:off x="914400" y="1353240"/>
            <a:ext cx="10332360" cy="44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DNS-over-HTTPS hoặc DNS-over-TLS có thể tạo đường vòng.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VPN/proxy công cộng thay đổi đường đi lưu lượng.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Truy cập trực tiếp bằng IP không có domain để so khớp.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DNS không lọc được đường dẫn URL trong HTTPS.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Người có quyền Administrator có thể đổi cấu hình mạng.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Cần nêu biện pháp đối phó và rủi ro chấp nhận.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6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7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Chặn ứng dụng bằng tên và SHA-256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Rounded Rectangle 4"/>
          <p:cNvSpPr/>
          <p:nvPr/>
        </p:nvSpPr>
        <p:spPr>
          <a:xfrm>
            <a:off x="5943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5"/>
          <p:cNvSpPr/>
          <p:nvPr/>
        </p:nvSpPr>
        <p:spPr>
          <a:xfrm>
            <a:off x="7588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6"/>
          <p:cNvSpPr/>
          <p:nvPr/>
        </p:nvSpPr>
        <p:spPr>
          <a:xfrm>
            <a:off x="7588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psutil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7"/>
          <p:cNvSpPr/>
          <p:nvPr/>
        </p:nvSpPr>
        <p:spPr>
          <a:xfrm>
            <a:off x="7588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Liệt kê process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8"/>
          <p:cNvSpPr/>
          <p:nvPr/>
        </p:nvSpPr>
        <p:spPr>
          <a:xfrm>
            <a:off x="264456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Rounded Rectangle 9"/>
          <p:cNvSpPr/>
          <p:nvPr/>
        </p:nvSpPr>
        <p:spPr>
          <a:xfrm>
            <a:off x="28180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Box 10"/>
          <p:cNvSpPr/>
          <p:nvPr/>
        </p:nvSpPr>
        <p:spPr>
          <a:xfrm>
            <a:off x="29826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11"/>
          <p:cNvSpPr/>
          <p:nvPr/>
        </p:nvSpPr>
        <p:spPr>
          <a:xfrm>
            <a:off x="29826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Executable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12"/>
          <p:cNvSpPr/>
          <p:nvPr/>
        </p:nvSpPr>
        <p:spPr>
          <a:xfrm>
            <a:off x="29826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Tên + đường dẫn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13"/>
          <p:cNvSpPr/>
          <p:nvPr/>
        </p:nvSpPr>
        <p:spPr>
          <a:xfrm>
            <a:off x="48682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Rounded Rectangle 14"/>
          <p:cNvSpPr/>
          <p:nvPr/>
        </p:nvSpPr>
        <p:spPr>
          <a:xfrm>
            <a:off x="50421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15"/>
          <p:cNvSpPr/>
          <p:nvPr/>
        </p:nvSpPr>
        <p:spPr>
          <a:xfrm>
            <a:off x="52066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6"/>
          <p:cNvSpPr/>
          <p:nvPr/>
        </p:nvSpPr>
        <p:spPr>
          <a:xfrm>
            <a:off x="52066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SHA-256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52066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Tính hoặc cache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8"/>
          <p:cNvSpPr/>
          <p:nvPr/>
        </p:nvSpPr>
        <p:spPr>
          <a:xfrm>
            <a:off x="709200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19"/>
          <p:cNvSpPr/>
          <p:nvPr/>
        </p:nvSpPr>
        <p:spPr>
          <a:xfrm>
            <a:off x="72658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20"/>
          <p:cNvSpPr/>
          <p:nvPr/>
        </p:nvSpPr>
        <p:spPr>
          <a:xfrm>
            <a:off x="74304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21"/>
          <p:cNvSpPr/>
          <p:nvPr/>
        </p:nvSpPr>
        <p:spPr>
          <a:xfrm>
            <a:off x="74304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Policy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2"/>
          <p:cNvSpPr/>
          <p:nvPr/>
        </p:nvSpPr>
        <p:spPr>
          <a:xfrm>
            <a:off x="74304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So blacklist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3"/>
          <p:cNvSpPr/>
          <p:nvPr/>
        </p:nvSpPr>
        <p:spPr>
          <a:xfrm>
            <a:off x="93160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24"/>
          <p:cNvSpPr/>
          <p:nvPr/>
        </p:nvSpPr>
        <p:spPr>
          <a:xfrm>
            <a:off x="948960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25"/>
          <p:cNvSpPr/>
          <p:nvPr/>
        </p:nvSpPr>
        <p:spPr>
          <a:xfrm>
            <a:off x="965412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26"/>
          <p:cNvSpPr/>
          <p:nvPr/>
        </p:nvSpPr>
        <p:spPr>
          <a:xfrm>
            <a:off x="965412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Enforcer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27"/>
          <p:cNvSpPr/>
          <p:nvPr/>
        </p:nvSpPr>
        <p:spPr>
          <a:xfrm>
            <a:off x="965412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Kill + notify + event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28"/>
          <p:cNvSpPr/>
          <p:nvPr/>
        </p:nvSpPr>
        <p:spPr>
          <a:xfrm>
            <a:off x="777240" y="48920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Đổi tên executable không thay đổi SHA-256 của tệp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29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30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2"/>
          <p:cNvSpPr/>
          <p:nvPr/>
        </p:nvSpPr>
        <p:spPr>
          <a:xfrm>
            <a:off x="594360" y="311040"/>
            <a:ext cx="1069812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Gói</a:t>
            </a:r>
            <a:r>
              <a:rPr lang="en-US" sz="2500" b="1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tin </a:t>
            </a: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sự</a:t>
            </a:r>
            <a:r>
              <a:rPr lang="en-US" sz="2500" b="1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2500" b="1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kiện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Rounded Rectangle 4"/>
          <p:cNvSpPr/>
          <p:nvPr/>
        </p:nvSpPr>
        <p:spPr>
          <a:xfrm>
            <a:off x="594360" y="1024200"/>
            <a:ext cx="5714640" cy="5211720"/>
          </a:xfrm>
          <a:prstGeom prst="roundRect">
            <a:avLst>
              <a:gd name="adj" fmla="val 16667"/>
            </a:avLst>
          </a:prstGeom>
          <a:solidFill>
            <a:srgbClr val="050B16"/>
          </a:solidFill>
          <a:ln>
            <a:solidFill>
              <a:srgbClr val="050B1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5"/>
          <p:cNvSpPr/>
          <p:nvPr/>
        </p:nvSpPr>
        <p:spPr>
          <a:xfrm>
            <a:off x="868680" y="1325880"/>
            <a:ext cx="5166000" cy="461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{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"idempotency_key": "ev_6c47...",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"type": "blocked_domain",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"subject": "youtube.com",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"duration_sec": 0,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"policy_version": 15,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  "created_at": "...Z"</a:t>
            </a: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}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</a:rPr>
              <a:t>9 loại sự kiện hợp lệ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Rounded Rectangle 6"/>
          <p:cNvSpPr/>
          <p:nvPr/>
        </p:nvSpPr>
        <p:spPr>
          <a:xfrm>
            <a:off x="6537960" y="1024200"/>
            <a:ext cx="5028840" cy="521172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7"/>
          <p:cNvSpPr/>
          <p:nvPr/>
        </p:nvSpPr>
        <p:spPr>
          <a:xfrm>
            <a:off x="6858000" y="1371600"/>
            <a:ext cx="4434480" cy="15835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•  Enum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đóng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•  Subject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được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chuẩn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hóa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• 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Không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chứa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URL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đầy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đủ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•  Server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từ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chối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trường</a:t>
            </a:r>
            <a:r>
              <a:rPr lang="en-US" sz="1800" b="0" u="none" strike="noStrike" dirty="0">
                <a:solidFill>
                  <a:srgbClr val="F5F8FF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 dirty="0" err="1">
                <a:solidFill>
                  <a:srgbClr val="F5F8FF"/>
                </a:solidFill>
                <a:effectLst/>
                <a:uFillTx/>
                <a:latin typeface="Aptos"/>
              </a:rPr>
              <a:t>thừa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Đồng bộ sự kiện khi mất mạng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Rounded Rectangle 4"/>
          <p:cNvSpPr/>
          <p:nvPr/>
        </p:nvSpPr>
        <p:spPr>
          <a:xfrm>
            <a:off x="5943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TextBox 5"/>
          <p:cNvSpPr/>
          <p:nvPr/>
        </p:nvSpPr>
        <p:spPr>
          <a:xfrm>
            <a:off x="7588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6"/>
          <p:cNvSpPr/>
          <p:nvPr/>
        </p:nvSpPr>
        <p:spPr>
          <a:xfrm>
            <a:off x="7588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Phát sinh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7"/>
          <p:cNvSpPr/>
          <p:nvPr/>
        </p:nvSpPr>
        <p:spPr>
          <a:xfrm>
            <a:off x="7588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Tạo event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8"/>
          <p:cNvSpPr/>
          <p:nvPr/>
        </p:nvSpPr>
        <p:spPr>
          <a:xfrm>
            <a:off x="264456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ounded Rectangle 9"/>
          <p:cNvSpPr/>
          <p:nvPr/>
        </p:nvSpPr>
        <p:spPr>
          <a:xfrm>
            <a:off x="28180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10"/>
          <p:cNvSpPr/>
          <p:nvPr/>
        </p:nvSpPr>
        <p:spPr>
          <a:xfrm>
            <a:off x="29826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11"/>
          <p:cNvSpPr/>
          <p:nvPr/>
        </p:nvSpPr>
        <p:spPr>
          <a:xfrm>
            <a:off x="29826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SQLite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12"/>
          <p:cNvSpPr/>
          <p:nvPr/>
        </p:nvSpPr>
        <p:spPr>
          <a:xfrm>
            <a:off x="29826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event_queue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13"/>
          <p:cNvSpPr/>
          <p:nvPr/>
        </p:nvSpPr>
        <p:spPr>
          <a:xfrm>
            <a:off x="48682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ounded Rectangle 14"/>
          <p:cNvSpPr/>
          <p:nvPr/>
        </p:nvSpPr>
        <p:spPr>
          <a:xfrm>
            <a:off x="50421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Box 15"/>
          <p:cNvSpPr/>
          <p:nvPr/>
        </p:nvSpPr>
        <p:spPr>
          <a:xfrm>
            <a:off x="52066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16"/>
          <p:cNvSpPr/>
          <p:nvPr/>
        </p:nvSpPr>
        <p:spPr>
          <a:xfrm>
            <a:off x="52066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Batch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17"/>
          <p:cNvSpPr/>
          <p:nvPr/>
        </p:nvSpPr>
        <p:spPr>
          <a:xfrm>
            <a:off x="52066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Tối đa 100 mục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18"/>
          <p:cNvSpPr/>
          <p:nvPr/>
        </p:nvSpPr>
        <p:spPr>
          <a:xfrm>
            <a:off x="709200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ounded Rectangle 19"/>
          <p:cNvSpPr/>
          <p:nvPr/>
        </p:nvSpPr>
        <p:spPr>
          <a:xfrm>
            <a:off x="72658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20"/>
          <p:cNvSpPr/>
          <p:nvPr/>
        </p:nvSpPr>
        <p:spPr>
          <a:xfrm>
            <a:off x="74304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21"/>
          <p:cNvSpPr/>
          <p:nvPr/>
        </p:nvSpPr>
        <p:spPr>
          <a:xfrm>
            <a:off x="74304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Server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22"/>
          <p:cNvSpPr/>
          <p:nvPr/>
        </p:nvSpPr>
        <p:spPr>
          <a:xfrm>
            <a:off x="74304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Dedupe theo key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23"/>
          <p:cNvSpPr/>
          <p:nvPr/>
        </p:nvSpPr>
        <p:spPr>
          <a:xfrm>
            <a:off x="93160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Rounded Rectangle 24"/>
          <p:cNvSpPr/>
          <p:nvPr/>
        </p:nvSpPr>
        <p:spPr>
          <a:xfrm>
            <a:off x="948960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TextBox 25"/>
          <p:cNvSpPr/>
          <p:nvPr/>
        </p:nvSpPr>
        <p:spPr>
          <a:xfrm>
            <a:off x="965412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26"/>
          <p:cNvSpPr/>
          <p:nvPr/>
        </p:nvSpPr>
        <p:spPr>
          <a:xfrm>
            <a:off x="965412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Agent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27"/>
          <p:cNvSpPr/>
          <p:nvPr/>
        </p:nvSpPr>
        <p:spPr>
          <a:xfrm>
            <a:off x="965412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Xóa khi thành công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28"/>
          <p:cNvSpPr/>
          <p:nvPr/>
        </p:nvSpPr>
        <p:spPr>
          <a:xfrm>
            <a:off x="777240" y="48920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At-least-once ở Agent · chống ghi trùng ở Server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29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30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Hạ tầng phân loại website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9" name="Table 4"/>
          <p:cNvGraphicFramePr/>
          <p:nvPr/>
        </p:nvGraphicFramePr>
        <p:xfrm>
          <a:off x="594360" y="1097280"/>
          <a:ext cx="10972800" cy="50727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6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Nhóm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Số lượng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Mục đích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Giáo dục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60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Kiểm tra dương tính giả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Giải trí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40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Phân loại báo cáo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Mạng xã hội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30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Policy 6–11 tuổi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Trò chơi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30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Theo dõi/kiểm soát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Không phù hợp – mô phỏng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20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Không dùng nội dung người lớn thật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6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Chưa phân loại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20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Fallback an toàn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0" name="TextBox 5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6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Báo cáo dành cho phụ huynh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Rounded Rectangle 4"/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5"/>
          <p:cNvSpPr/>
          <p:nvPr/>
        </p:nvSpPr>
        <p:spPr>
          <a:xfrm>
            <a:off x="914400" y="1353240"/>
            <a:ext cx="10332360" cy="44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Thời lượng sử dụng theo ngày và theo tuần.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Top ứng dụng và top tên miền.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Số lần ứng dụng hoặc website bị chặn.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Phân loại hoạt động và sự kiện gần đây.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Danh sách yêu cầu của trẻ.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Xuất báo cáo tuần ra PDF.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6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Giao diện yêu cầu từ trẻ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Rounded Rectangle 4"/>
          <p:cNvSpPr/>
          <p:nvPr/>
        </p:nvSpPr>
        <p:spPr>
          <a:xfrm>
            <a:off x="594360" y="1005840"/>
            <a:ext cx="10972440" cy="525744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93" name="Picture 5" descr="child-requests.png"/>
          <p:cNvPicPr/>
          <p:nvPr/>
        </p:nvPicPr>
        <p:blipFill>
          <a:blip r:embed="rId2"/>
          <a:stretch/>
        </p:blipFill>
        <p:spPr>
          <a:xfrm>
            <a:off x="850320" y="1914840"/>
            <a:ext cx="10460520" cy="303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TextBox 6"/>
          <p:cNvSpPr/>
          <p:nvPr/>
        </p:nvSpPr>
        <p:spPr>
          <a:xfrm>
            <a:off x="822960" y="57150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Preview phiên bản cũ — bản cuối nên có request pending và approved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7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8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Màn hình minh bạch dành cho trẻ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Rounded Rectangle 4"/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5"/>
          <p:cNvSpPr/>
          <p:nvPr/>
        </p:nvSpPr>
        <p:spPr>
          <a:xfrm>
            <a:off x="914400" y="1353240"/>
            <a:ext cx="10332360" cy="44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Hiển thị thời gian đã dùng và thời gian còn lại.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Cho trẻ xem chính sách đang áp dụng.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Thông báo ứng dụng/website bị chặn và lý do.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Nút xin thêm 15/30/60 phút.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Màn hình “Hôm nay em đã dùng gì”.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Không có chế độ ẩn hoặc thu thập nội dung riêng tư.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Rounded Rectangle 6"/>
          <p:cNvSpPr/>
          <p:nvPr/>
        </p:nvSpPr>
        <p:spPr>
          <a:xfrm>
            <a:off x="914400" y="5440680"/>
            <a:ext cx="10332360" cy="5025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7"/>
          <p:cNvSpPr/>
          <p:nvPr/>
        </p:nvSpPr>
        <p:spPr>
          <a:xfrm>
            <a:off x="1097280" y="5559480"/>
            <a:ext cx="9966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NT1–NT5: trẻ biết, hiểu và có tiếng nói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Xóa dữ liệu và thời hạn lưu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TUẦN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Rounded Rectangle 4"/>
          <p:cNvSpPr/>
          <p:nvPr/>
        </p:nvSpPr>
        <p:spPr>
          <a:xfrm>
            <a:off x="5943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TextBox 5"/>
          <p:cNvSpPr/>
          <p:nvPr/>
        </p:nvSpPr>
        <p:spPr>
          <a:xfrm>
            <a:off x="7588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6"/>
          <p:cNvSpPr/>
          <p:nvPr/>
        </p:nvSpPr>
        <p:spPr>
          <a:xfrm>
            <a:off x="7588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90 ngày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7"/>
          <p:cNvSpPr/>
          <p:nvPr/>
        </p:nvSpPr>
        <p:spPr>
          <a:xfrm>
            <a:off x="7588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Retention tự động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8"/>
          <p:cNvSpPr/>
          <p:nvPr/>
        </p:nvSpPr>
        <p:spPr>
          <a:xfrm>
            <a:off x="264456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Rounded Rectangle 9"/>
          <p:cNvSpPr/>
          <p:nvPr/>
        </p:nvSpPr>
        <p:spPr>
          <a:xfrm>
            <a:off x="28180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TextBox 10"/>
          <p:cNvSpPr/>
          <p:nvPr/>
        </p:nvSpPr>
        <p:spPr>
          <a:xfrm>
            <a:off x="29826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Box 11"/>
          <p:cNvSpPr/>
          <p:nvPr/>
        </p:nvSpPr>
        <p:spPr>
          <a:xfrm>
            <a:off x="29826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Phụ huynh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12"/>
          <p:cNvSpPr/>
          <p:nvPr/>
        </p:nvSpPr>
        <p:spPr>
          <a:xfrm>
            <a:off x="29826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Yêu cầu purge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13"/>
          <p:cNvSpPr/>
          <p:nvPr/>
        </p:nvSpPr>
        <p:spPr>
          <a:xfrm>
            <a:off x="48682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Rounded Rectangle 14"/>
          <p:cNvSpPr/>
          <p:nvPr/>
        </p:nvSpPr>
        <p:spPr>
          <a:xfrm>
            <a:off x="504216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15"/>
          <p:cNvSpPr/>
          <p:nvPr/>
        </p:nvSpPr>
        <p:spPr>
          <a:xfrm>
            <a:off x="520668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16"/>
          <p:cNvSpPr/>
          <p:nvPr/>
        </p:nvSpPr>
        <p:spPr>
          <a:xfrm>
            <a:off x="520668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Server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17"/>
          <p:cNvSpPr/>
          <p:nvPr/>
        </p:nvSpPr>
        <p:spPr>
          <a:xfrm>
            <a:off x="520668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Xóa event/request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18"/>
          <p:cNvSpPr/>
          <p:nvPr/>
        </p:nvSpPr>
        <p:spPr>
          <a:xfrm>
            <a:off x="709200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Rounded Rectangle 19"/>
          <p:cNvSpPr/>
          <p:nvPr/>
        </p:nvSpPr>
        <p:spPr>
          <a:xfrm>
            <a:off x="726588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243752"/>
          </a:solidFill>
          <a:ln>
            <a:solidFill>
              <a:srgbClr val="24375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TextBox 20"/>
          <p:cNvSpPr/>
          <p:nvPr/>
        </p:nvSpPr>
        <p:spPr>
          <a:xfrm>
            <a:off x="743040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21"/>
          <p:cNvSpPr/>
          <p:nvPr/>
        </p:nvSpPr>
        <p:spPr>
          <a:xfrm>
            <a:off x="743040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Command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22"/>
          <p:cNvSpPr/>
          <p:nvPr/>
        </p:nvSpPr>
        <p:spPr>
          <a:xfrm>
            <a:off x="743040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clear_data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23"/>
          <p:cNvSpPr/>
          <p:nvPr/>
        </p:nvSpPr>
        <p:spPr>
          <a:xfrm>
            <a:off x="9316080" y="2743200"/>
            <a:ext cx="23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Rounded Rectangle 24"/>
          <p:cNvSpPr/>
          <p:nvPr/>
        </p:nvSpPr>
        <p:spPr>
          <a:xfrm>
            <a:off x="9489600" y="1828800"/>
            <a:ext cx="2077200" cy="255996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25"/>
          <p:cNvSpPr/>
          <p:nvPr/>
        </p:nvSpPr>
        <p:spPr>
          <a:xfrm>
            <a:off x="9654120" y="2011680"/>
            <a:ext cx="1747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26"/>
          <p:cNvSpPr/>
          <p:nvPr/>
        </p:nvSpPr>
        <p:spPr>
          <a:xfrm>
            <a:off x="9654120" y="2578680"/>
            <a:ext cx="174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Agent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27"/>
          <p:cNvSpPr/>
          <p:nvPr/>
        </p:nvSpPr>
        <p:spPr>
          <a:xfrm>
            <a:off x="9654120" y="3154680"/>
            <a:ext cx="17478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Xóa queue/bộ đếm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28"/>
          <p:cNvSpPr/>
          <p:nvPr/>
        </p:nvSpPr>
        <p:spPr>
          <a:xfrm>
            <a:off x="777240" y="48920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Cần kiểm chứng dữ liệu bị xóa trên cả hai SQLite database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29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30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Tuần 3   ·   38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Kết quả sau ba tuần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TỔNG KẾT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9" name="Table 4"/>
          <p:cNvGraphicFramePr/>
          <p:nvPr/>
        </p:nvGraphicFramePr>
        <p:xfrm>
          <a:off x="594360" y="1097280"/>
          <a:ext cx="10972800" cy="507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864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Tuần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Kết quả chính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Tuần 1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Kiến trúc, database, enrollment, heartbeat và Dashboard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Tuần 2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Quota, lịch tuần, monotonic clock, policy và WebSocket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Tuần 3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DNS, SafeSearch, app control, event, báo cáo và giao diện trẻ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0" name="TextBox 5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Tổng kết   ·   39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Mức độ hoàn thành F1–F5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TỔNG KẾT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45" name="Table 4"/>
          <p:cNvGraphicFramePr/>
          <p:nvPr>
            <p:extLst>
              <p:ext uri="{D42A27DB-BD31-4B8C-83A1-F6EECF244321}">
                <p14:modId xmlns:p14="http://schemas.microsoft.com/office/powerpoint/2010/main" val="219295612"/>
              </p:ext>
            </p:extLst>
          </p:nvPr>
        </p:nvGraphicFramePr>
        <p:xfrm>
          <a:off x="594360" y="1097280"/>
          <a:ext cx="10972800" cy="5073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64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Nhóm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Đánh giá trung thực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F1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Phần lớn logic đã có; thiếu quota riêng ngày thường/cuối tuần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F2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Blacklist/hash/DNS/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SafeSearch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có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;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DoH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còn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thiếu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F3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Có</a:t>
                      </a: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đầy</a:t>
                      </a: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đủ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F4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Version/WebSocket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có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;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thiếu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HMAC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và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audit old/new/IP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F5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Một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phần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;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cần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sửa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auth, CSRF, ownership, encryption </a:t>
                      </a:r>
                      <a:r>
                        <a:rPr lang="en-US" sz="1400" b="0" u="none" strike="noStrike" dirty="0" err="1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và</a:t>
                      </a:r>
                      <a:r>
                        <a:rPr lang="en-US" sz="1400" b="0" u="none" strike="noStrike" dirty="0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 STRIDE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6" name="TextBox 5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6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Tổng kết   ·   40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Hạn chế và công việc cần hoàn thiện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Aptos"/>
              </a:rPr>
              <a:t>TỔNG KẾT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Rounded Rectangle 4"/>
          <p:cNvSpPr/>
          <p:nvPr/>
        </p:nvSpPr>
        <p:spPr>
          <a:xfrm>
            <a:off x="594360" y="1051560"/>
            <a:ext cx="10972440" cy="51660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TextBox 5"/>
          <p:cNvSpPr/>
          <p:nvPr/>
        </p:nvSpPr>
        <p:spPr>
          <a:xfrm>
            <a:off x="914400" y="1353240"/>
            <a:ext cx="10332360" cy="44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Argon2id/scrypt, secret từ môi trường, Secure cookie và CSRF.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Xác thực và ownership trên mọi API phụ huynh.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HMAC/chữ ký policy; audit có IP và giá trị cũ/mới.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Windows Service, ACL và bộ cài có recovery.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Điều tra test suite đang treo và chạy lại toàn bộ.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•  Đo CPU/RAM, DNS p50/p95 và latency với ≥30 mẫu.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6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7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Tổng kết   ·   41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Phân công và đóng góp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TỔNG KẾT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8" name="Table 4"/>
          <p:cNvGraphicFramePr/>
          <p:nvPr/>
        </p:nvGraphicFramePr>
        <p:xfrm>
          <a:off x="594360" y="1097280"/>
          <a:ext cx="10972800" cy="50749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164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Thành viên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Hạng mục minh chứng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Tỷ lệ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Nguyễn Văn Phước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23120074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[Module · commit · test · tài liệu]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[x%]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2B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Hà Công Thuận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23120094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[Module · commit · test · tài liệu]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F5F8FF"/>
                          </a:solidFill>
                          <a:effectLst/>
                          <a:uFillTx/>
                          <a:latin typeface="Aptos"/>
                        </a:rPr>
                        <a:t>[100−x%]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3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9" name="TextBox 5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6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Tổng kết   ·   42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2"/>
          <p:cNvSpPr/>
          <p:nvPr/>
        </p:nvSpPr>
        <p:spPr>
          <a:xfrm>
            <a:off x="594360" y="311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Kết luận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3"/>
          <p:cNvSpPr/>
          <p:nvPr/>
        </p:nvSpPr>
        <p:spPr>
          <a:xfrm>
            <a:off x="9829800" y="4024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Q&amp;A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4"/>
          <p:cNvSpPr/>
          <p:nvPr/>
        </p:nvSpPr>
        <p:spPr>
          <a:xfrm>
            <a:off x="914400" y="1371600"/>
            <a:ext cx="1033236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ChildGuard đã hình thành luồng end-to-end</a:t>
            </a:r>
            <a:br>
              <a:rPr sz="2900"/>
            </a:br>
            <a:r>
              <a:rPr lang="en-US" sz="29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từ phụ huynh cấu hình đến Agent thực thi</a:t>
            </a:r>
            <a:br>
              <a:rPr sz="2900"/>
            </a:br>
            <a:r>
              <a:rPr lang="en-US" sz="29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và gửi kết quả trở lại Dashboard.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Rounded Rectangle 5"/>
          <p:cNvSpPr/>
          <p:nvPr/>
        </p:nvSpPr>
        <p:spPr>
          <a:xfrm>
            <a:off x="2057400" y="3337560"/>
            <a:ext cx="8092080" cy="1051200"/>
          </a:xfrm>
          <a:prstGeom prst="roundRect">
            <a:avLst>
              <a:gd name="adj" fmla="val 16667"/>
            </a:avLst>
          </a:prstGeom>
          <a:solidFill>
            <a:srgbClr val="1D2B42"/>
          </a:solidFill>
          <a:ln>
            <a:solidFill>
              <a:srgbClr val="1D2B4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TextBox 6"/>
          <p:cNvSpPr/>
          <p:nvPr/>
        </p:nvSpPr>
        <p:spPr>
          <a:xfrm>
            <a:off x="2240280" y="3657600"/>
            <a:ext cx="7726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2D3EE"/>
                </a:solidFill>
                <a:effectLst/>
                <a:uFillTx/>
                <a:latin typeface="Aptos"/>
              </a:rPr>
              <a:t>Minh bạch · Hoạt động ngoại tuyến · Tối thiểu dữ liệu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7"/>
          <p:cNvSpPr/>
          <p:nvPr/>
        </p:nvSpPr>
        <p:spPr>
          <a:xfrm>
            <a:off x="2011680" y="5074920"/>
            <a:ext cx="8183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5F8FF"/>
                </a:solidFill>
                <a:effectLst/>
                <a:uFillTx/>
                <a:latin typeface="Aptos"/>
              </a:rPr>
              <a:t>CẢM ƠN THẦY VÀ CÁC BẠN — Q&amp;A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8"/>
          <p:cNvSpPr/>
          <p:nvPr/>
        </p:nvSpPr>
        <p:spPr>
          <a:xfrm>
            <a:off x="594360" y="6546960"/>
            <a:ext cx="6583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ChildGuard · An Open Guard Kids Application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9"/>
          <p:cNvSpPr/>
          <p:nvPr/>
        </p:nvSpPr>
        <p:spPr>
          <a:xfrm>
            <a:off x="9326880" y="65469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0B1CC"/>
                </a:solidFill>
                <a:effectLst/>
                <a:uFillTx/>
                <a:latin typeface="Aptos"/>
              </a:rPr>
              <a:t>Kết thúc   ·   43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3102</Words>
  <Application>Microsoft Office PowerPoint</Application>
  <PresentationFormat>Widescreen</PresentationFormat>
  <Paragraphs>553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Arial</vt:lpstr>
      <vt:lpstr>Calibri</vt:lpstr>
      <vt:lpstr>Consolas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ChildGuard – Hành trình phát triển 3 tuần</dc:title>
  <dc:subject>Kiến trúc, quản lý thời gian, kiểm soát nội dung và báo cáo</dc:subject>
  <dc:creator>Nguyễn Văn Phước; Hà Công Thuận</dc:creator>
  <dc:description>Các ảnh giao diện được ghi rõ là preview phiên bản cũ.</dc:description>
  <cp:lastModifiedBy>Thuận Hà Công</cp:lastModifiedBy>
  <cp:revision>3</cp:revision>
  <dcterms:created xsi:type="dcterms:W3CDTF">2013-01-27T09:14:16Z</dcterms:created>
  <dcterms:modified xsi:type="dcterms:W3CDTF">2026-10-20T03:08:06Z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